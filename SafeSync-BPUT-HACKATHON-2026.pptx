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48640"/>
            <a:ext cx="10728655"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58368"/>
            <a:ext cx="10180015" cy="1005840"/>
          </a:xfrm>
          <a:prstGeom prst="rect">
            <a:avLst/>
          </a:prstGeom>
          <a:noFill/>
        </p:spPr>
        <p:txBody>
          <a:bodyPr wrap="square">
            <a:spAutoFit/>
          </a:bodyPr>
          <a:lstStyle/>
          <a:p>
            <a:pPr>
              <a:defRPr sz="2200" b="1">
                <a:solidFill>
                  <a:srgbClr val="FFFFFF"/>
                </a:solidFill>
              </a:defRPr>
            </a:pPr>
            <a:r>
              <a:t>BPUT HACKATHON 2026   |   TITLE PAGE</a:t>
            </a:r>
          </a:p>
          <a:p>
            <a:pPr>
              <a:defRPr sz="1200">
                <a:solidFill>
                  <a:srgbClr val="BAE6FD"/>
                </a:solidFill>
              </a:defRPr>
            </a:pPr>
            <a:r>
              <a:t>Organized by Software Technology Parks of India (STPI) &amp; EmTek</a:t>
            </a:r>
          </a:p>
        </p:txBody>
      </p:sp>
      <p:sp>
        <p:nvSpPr>
          <p:cNvPr id="4" name="TextBox 3"/>
          <p:cNvSpPr txBox="1"/>
          <p:nvPr/>
        </p:nvSpPr>
        <p:spPr>
          <a:xfrm>
            <a:off x="731520" y="1920240"/>
            <a:ext cx="10728655" cy="868680"/>
          </a:xfrm>
          <a:prstGeom prst="rect">
            <a:avLst/>
          </a:prstGeom>
          <a:noFill/>
        </p:spPr>
        <p:txBody>
          <a:bodyPr wrap="none">
            <a:spAutoFit/>
          </a:bodyPr>
          <a:lstStyle/>
          <a:p>
            <a:pPr>
              <a:defRPr sz="3600" b="1">
                <a:solidFill>
                  <a:srgbClr val="1E3A8A"/>
                </a:solidFill>
              </a:defRPr>
            </a:pPr>
            <a:r>
              <a:t>SafeSync</a:t>
            </a:r>
          </a:p>
          <a:p>
            <a:pPr>
              <a:defRPr sz="1300">
                <a:solidFill>
                  <a:srgbClr val="64748B"/>
                </a:solidFill>
              </a:defRPr>
            </a:pPr>
            <a:r>
              <a:t>Autonomous AI Vision Platform for Industrial Safety Gear Compliance &amp; Hazard Governance</a:t>
            </a:r>
          </a:p>
        </p:txBody>
      </p:sp>
      <p:sp>
        <p:nvSpPr>
          <p:cNvPr id="5" name="Rounded Rectangle 4"/>
          <p:cNvSpPr/>
          <p:nvPr/>
        </p:nvSpPr>
        <p:spPr>
          <a:xfrm>
            <a:off x="731520" y="2926080"/>
            <a:ext cx="5212080" cy="3474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3035808"/>
            <a:ext cx="4882896" cy="292608"/>
          </a:xfrm>
          <a:prstGeom prst="rect">
            <a:avLst/>
          </a:prstGeom>
          <a:noFill/>
        </p:spPr>
        <p:txBody>
          <a:bodyPr wrap="square" lIns="0" tIns="0" rIns="0" bIns="0">
            <a:spAutoFit/>
          </a:bodyPr>
          <a:lstStyle/>
          <a:p>
            <a:pPr>
              <a:defRPr sz="1150" b="1">
                <a:solidFill>
                  <a:srgbClr val="1E3A8A"/>
                </a:solidFill>
              </a:defRPr>
            </a:pPr>
            <a:r>
              <a:t>PROBLEM STATEMENT SPECIFICATION</a:t>
            </a:r>
          </a:p>
        </p:txBody>
      </p:sp>
      <p:sp>
        <p:nvSpPr>
          <p:cNvPr id="7" name="TextBox 6"/>
          <p:cNvSpPr txBox="1"/>
          <p:nvPr/>
        </p:nvSpPr>
        <p:spPr>
          <a:xfrm>
            <a:off x="896112" y="3328416"/>
            <a:ext cx="4882896" cy="3017520"/>
          </a:xfrm>
          <a:prstGeom prst="rect">
            <a:avLst/>
          </a:prstGeom>
          <a:noFill/>
        </p:spPr>
        <p:txBody>
          <a:bodyPr wrap="square" lIns="0" tIns="0" rIns="0" bIns="0">
            <a:spAutoFit/>
          </a:bodyPr>
          <a:lstStyle/>
          <a:p/>
          <a:p>
            <a:pPr>
              <a:spcAft>
                <a:spcPts val="800"/>
              </a:spcAft>
            </a:pPr>
            <a:r>
              <a:rPr sz="1100" b="1">
                <a:solidFill>
                  <a:srgbClr val="1E293B"/>
                </a:solidFill>
              </a:rPr>
              <a:t>Problem Statement ID: </a:t>
            </a:r>
            <a:r>
              <a:rPr sz="1100">
                <a:solidFill>
                  <a:srgbClr val="1E3A8A"/>
                </a:solidFill>
              </a:rPr>
              <a:t>PS06</a:t>
            </a:r>
          </a:p>
          <a:p>
            <a:pPr>
              <a:spcAft>
                <a:spcPts val="800"/>
              </a:spcAft>
            </a:pPr>
            <a:r>
              <a:rPr sz="1100" b="1">
                <a:solidFill>
                  <a:srgbClr val="1E293B"/>
                </a:solidFill>
              </a:rPr>
              <a:t>Problem Statement Title: </a:t>
            </a:r>
            <a:r>
              <a:rPr sz="1100">
                <a:solidFill>
                  <a:srgbClr val="64748B"/>
                </a:solidFill>
              </a:rPr>
              <a:t>Build a prototype AI system that detects safety gear compliance</a:t>
            </a:r>
          </a:p>
          <a:p>
            <a:pPr>
              <a:spcAft>
                <a:spcPts val="800"/>
              </a:spcAft>
            </a:pPr>
            <a:r>
              <a:rPr sz="1100" b="1">
                <a:solidFill>
                  <a:srgbClr val="1E293B"/>
                </a:solidFill>
              </a:rPr>
              <a:t>Theme: </a:t>
            </a:r>
            <a:r>
              <a:rPr sz="1100">
                <a:solidFill>
                  <a:srgbClr val="64748B"/>
                </a:solidFill>
              </a:rPr>
              <a:t>Artificial Intelligence &amp; Computer Vision / Workplace Safety</a:t>
            </a:r>
          </a:p>
          <a:p>
            <a:pPr>
              <a:spcAft>
                <a:spcPts val="800"/>
              </a:spcAft>
            </a:pPr>
            <a:r>
              <a:rPr sz="1100" b="1">
                <a:solidFill>
                  <a:srgbClr val="1E293B"/>
                </a:solidFill>
              </a:rPr>
              <a:t>Category: </a:t>
            </a:r>
            <a:r>
              <a:rPr sz="1100">
                <a:solidFill>
                  <a:srgbClr val="64748B"/>
                </a:solidFill>
              </a:rPr>
              <a:t>Software (Edge AI &amp; Full-Stack Web Application)</a:t>
            </a:r>
          </a:p>
          <a:p>
            <a:pPr>
              <a:spcAft>
                <a:spcPts val="800"/>
              </a:spcAft>
            </a:pPr>
            <a:r>
              <a:rPr sz="1100" b="1">
                <a:solidFill>
                  <a:srgbClr val="1E293B"/>
                </a:solidFill>
              </a:rPr>
              <a:t>Verification Status: </a:t>
            </a:r>
            <a:r>
              <a:rPr sz="1100">
                <a:solidFill>
                  <a:srgbClr val="1E3A8A"/>
                </a:solidFill>
              </a:rPr>
              <a:t>Verified Prototype (250/250 Unit Tests • 39/39 Integration Scenarios)</a:t>
            </a:r>
          </a:p>
        </p:txBody>
      </p:sp>
      <p:sp>
        <p:nvSpPr>
          <p:cNvPr id="8" name="Rounded Rectangle 7"/>
          <p:cNvSpPr/>
          <p:nvPr/>
        </p:nvSpPr>
        <p:spPr>
          <a:xfrm>
            <a:off x="6217920" y="2926080"/>
            <a:ext cx="5212080" cy="3474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3035808"/>
            <a:ext cx="4882896" cy="292608"/>
          </a:xfrm>
          <a:prstGeom prst="rect">
            <a:avLst/>
          </a:prstGeom>
          <a:noFill/>
        </p:spPr>
        <p:txBody>
          <a:bodyPr wrap="square" lIns="0" tIns="0" rIns="0" bIns="0">
            <a:spAutoFit/>
          </a:bodyPr>
          <a:lstStyle/>
          <a:p>
            <a:pPr>
              <a:defRPr sz="1150" b="1">
                <a:solidFill>
                  <a:srgbClr val="1E3A8A"/>
                </a:solidFill>
              </a:defRPr>
            </a:pPr>
            <a:r>
              <a:t>TEAM &amp; INSTITUTIONAL METADATA</a:t>
            </a:r>
          </a:p>
        </p:txBody>
      </p:sp>
      <p:sp>
        <p:nvSpPr>
          <p:cNvPr id="10" name="TextBox 9"/>
          <p:cNvSpPr txBox="1"/>
          <p:nvPr/>
        </p:nvSpPr>
        <p:spPr>
          <a:xfrm>
            <a:off x="6382512" y="3328416"/>
            <a:ext cx="4882896" cy="3017520"/>
          </a:xfrm>
          <a:prstGeom prst="rect">
            <a:avLst/>
          </a:prstGeom>
          <a:noFill/>
        </p:spPr>
        <p:txBody>
          <a:bodyPr wrap="square" lIns="0" tIns="0" rIns="0" bIns="0">
            <a:spAutoFit/>
          </a:bodyPr>
          <a:lstStyle/>
          <a:p/>
          <a:p>
            <a:pPr>
              <a:spcAft>
                <a:spcPts val="800"/>
              </a:spcAft>
            </a:pPr>
            <a:r>
              <a:rPr sz="1100" b="1">
                <a:solidFill>
                  <a:srgbClr val="1E293B"/>
                </a:solidFill>
              </a:rPr>
              <a:t>Team ID: </a:t>
            </a:r>
            <a:r>
              <a:rPr sz="1100">
                <a:solidFill>
                  <a:srgbClr val="1E3A8A"/>
                </a:solidFill>
              </a:rPr>
              <a:t>BPUT-PS06-XERSES (To Be Assigned)</a:t>
            </a:r>
          </a:p>
          <a:p>
            <a:pPr>
              <a:spcAft>
                <a:spcPts val="800"/>
              </a:spcAft>
            </a:pPr>
            <a:r>
              <a:rPr sz="1100" b="1">
                <a:solidFill>
                  <a:srgbClr val="1E293B"/>
                </a:solidFill>
              </a:rPr>
              <a:t>Team Name: </a:t>
            </a:r>
            <a:r>
              <a:rPr sz="1100">
                <a:solidFill>
                  <a:srgbClr val="1E3A8A"/>
                </a:solidFill>
              </a:rPr>
              <a:t>XERSES</a:t>
            </a:r>
          </a:p>
          <a:p>
            <a:pPr>
              <a:spcAft>
                <a:spcPts val="800"/>
              </a:spcAft>
            </a:pPr>
            <a:r>
              <a:rPr sz="1100" b="1">
                <a:solidFill>
                  <a:srgbClr val="1E293B"/>
                </a:solidFill>
              </a:rPr>
              <a:t>College / Institution: </a:t>
            </a:r>
            <a:r>
              <a:rPr sz="1100">
                <a:solidFill>
                  <a:srgbClr val="64748B"/>
                </a:solidFill>
              </a:rPr>
              <a:t>Biju Patnaik University of Technology (BPUT) Affiliated Institute</a:t>
            </a:r>
          </a:p>
          <a:p>
            <a:pPr>
              <a:spcAft>
                <a:spcPts val="800"/>
              </a:spcAft>
            </a:pPr>
            <a:r>
              <a:rPr sz="1100" b="1">
                <a:solidFill>
                  <a:srgbClr val="1E293B"/>
                </a:solidFill>
              </a:rPr>
              <a:t>Department: </a:t>
            </a:r>
            <a:r>
              <a:rPr sz="1100">
                <a:solidFill>
                  <a:srgbClr val="64748B"/>
                </a:solidFill>
              </a:rPr>
              <a:t>Computer Science &amp; Engineering (To Be Updated)</a:t>
            </a:r>
          </a:p>
          <a:p>
            <a:pPr>
              <a:spcAft>
                <a:spcPts val="800"/>
              </a:spcAft>
            </a:pPr>
            <a:r>
              <a:rPr sz="1100" b="1">
                <a:solidFill>
                  <a:srgbClr val="1E293B"/>
                </a:solidFill>
              </a:rPr>
              <a:t>Project Lead: </a:t>
            </a:r>
            <a:r>
              <a:rPr sz="1100">
                <a:solidFill>
                  <a:srgbClr val="64748B"/>
                </a:solidFill>
              </a:rPr>
              <a:t>Smruti Ranjan Nayak (@SMRU08)</a:t>
            </a:r>
          </a:p>
          <a:p>
            <a:pPr>
              <a:spcAft>
                <a:spcPts val="800"/>
              </a:spcAft>
            </a:pPr>
            <a:r>
              <a:rPr sz="1100" b="1">
                <a:solidFill>
                  <a:srgbClr val="1E293B"/>
                </a:solidFill>
              </a:rPr>
              <a:t>GitHub Repository: </a:t>
            </a:r>
            <a:r>
              <a:rPr sz="1100">
                <a:solidFill>
                  <a:srgbClr val="64748B"/>
                </a:solidFill>
              </a:rPr>
              <a:t>https://github.com/SMRU08/SafeSync.git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284C7"/>
                </a:solidFill>
              </a:defRPr>
            </a:pPr>
            <a:r>
              <a:t>BPUT HACKATHON 2026   |   PROBLEM STATEMENT PS06   |   SLIDE 2 OF 6</a:t>
            </a:r>
          </a:p>
        </p:txBody>
      </p:sp>
      <p:sp>
        <p:nvSpPr>
          <p:cNvPr id="3" name="TextBox 2"/>
          <p:cNvSpPr txBox="1"/>
          <p:nvPr/>
        </p:nvSpPr>
        <p:spPr>
          <a:xfrm>
            <a:off x="731520" y="594360"/>
            <a:ext cx="10728655" cy="457200"/>
          </a:xfrm>
          <a:prstGeom prst="rect">
            <a:avLst/>
          </a:prstGeom>
          <a:noFill/>
        </p:spPr>
        <p:txBody>
          <a:bodyPr wrap="square" lIns="0" tIns="0" rIns="0" bIns="0">
            <a:spAutoFit/>
          </a:bodyPr>
          <a:lstStyle/>
          <a:p>
            <a:pPr>
              <a:defRPr sz="2200" b="1">
                <a:solidFill>
                  <a:srgbClr val="0F172A"/>
                </a:solidFill>
              </a:defRPr>
            </a:pPr>
            <a:r>
              <a:t>IDEA TITLE</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100">
                <a:solidFill>
                  <a:srgbClr val="64748B"/>
                </a:solidFill>
              </a:defRPr>
            </a:pPr>
            <a:r>
              <a:t>SafeSync — Autonomous Industrial Safety Gear Compliance &amp; Hazard Governance</a:t>
            </a:r>
          </a:p>
        </p:txBody>
      </p:sp>
      <p:sp>
        <p:nvSpPr>
          <p:cNvPr id="5" name="Rectangle 4"/>
          <p:cNvSpPr/>
          <p:nvPr/>
        </p:nvSpPr>
        <p:spPr>
          <a:xfrm>
            <a:off x="731520" y="13716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12080"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4882896" cy="292608"/>
          </a:xfrm>
          <a:prstGeom prst="rect">
            <a:avLst/>
          </a:prstGeom>
          <a:noFill/>
        </p:spPr>
        <p:txBody>
          <a:bodyPr wrap="square" lIns="0" tIns="0" rIns="0" bIns="0">
            <a:spAutoFit/>
          </a:bodyPr>
          <a:lstStyle/>
          <a:p>
            <a:pPr>
              <a:defRPr sz="1150" b="1">
                <a:solidFill>
                  <a:srgbClr val="1E3A8A"/>
                </a:solidFill>
              </a:defRPr>
            </a:pPr>
            <a:r>
              <a:t>PROPOSED SOLUTION &amp; HOW IT ADDRESSES PS06</a:t>
            </a:r>
          </a:p>
        </p:txBody>
      </p:sp>
      <p:sp>
        <p:nvSpPr>
          <p:cNvPr id="8" name="TextBox 7"/>
          <p:cNvSpPr txBox="1"/>
          <p:nvPr/>
        </p:nvSpPr>
        <p:spPr>
          <a:xfrm>
            <a:off x="896112" y="1956816"/>
            <a:ext cx="4882896" cy="1874520"/>
          </a:xfrm>
          <a:prstGeom prst="rect">
            <a:avLst/>
          </a:prstGeom>
          <a:noFill/>
        </p:spPr>
        <p:txBody>
          <a:bodyPr wrap="square" lIns="0" tIns="0" rIns="0" bIns="0">
            <a:spAutoFit/>
          </a:bodyPr>
          <a:lstStyle/>
          <a:p/>
          <a:p>
            <a:pPr>
              <a:spcAft>
                <a:spcPts val="200"/>
              </a:spcAft>
              <a:defRPr sz="1000" b="1">
                <a:solidFill>
                  <a:srgbClr val="1E3A8A"/>
                </a:solidFill>
              </a:defRPr>
            </a:pPr>
            <a:r>
              <a:t>PROPOSED SOLUTION:</a:t>
            </a:r>
          </a:p>
          <a:p>
            <a:pPr>
              <a:spcAft>
                <a:spcPts val="500"/>
              </a:spcAft>
              <a:defRPr sz="950">
                <a:solidFill>
                  <a:srgbClr val="1E293B"/>
                </a:solidFill>
              </a:defRPr>
            </a:pPr>
            <a:r>
              <a:t>SafeSync is an edge-compatible, multi-camera AI computer vision system designed to automate workplace safety monitoring. It continuously inspects live video streams, localizes workers, tracks movement paths, and evaluates Personal Protective Equipment (PPE) compliance while monitoring early flame and smoke hazards before escalation.</a:t>
            </a:r>
          </a:p>
          <a:p>
            <a:pPr>
              <a:spcAft>
                <a:spcPts val="200"/>
              </a:spcAft>
              <a:defRPr sz="1000" b="1">
                <a:solidFill>
                  <a:srgbClr val="1E3A8A"/>
                </a:solidFill>
              </a:defRPr>
            </a:pPr>
            <a:r>
              <a:t>HOW IT ADDRESSES THE PROBLEM (PS06):</a:t>
            </a:r>
          </a:p>
          <a:p>
            <a:pPr>
              <a:defRPr sz="900">
                <a:solidFill>
                  <a:srgbClr val="1E293B"/>
                </a:solidFill>
              </a:defRPr>
            </a:pPr>
            <a:r>
              <a:t>• Replaces intermittent manual walkthroughs with continuous 24/7 video surveillance.</a:t>
            </a:r>
            <a:br/>
            <a:r>
              <a:t>• Eliminates human monitor vigilance decay (which drops after 20–30 mins).</a:t>
            </a:r>
            <a:br/>
            <a:r>
              <a:t>• Delivers sub-second alerts with cryptographically signed photographic snapshots.</a:t>
            </a:r>
          </a:p>
        </p:txBody>
      </p:sp>
      <p:sp>
        <p:nvSpPr>
          <p:cNvPr id="9" name="Rounded Rectangle 8"/>
          <p:cNvSpPr/>
          <p:nvPr/>
        </p:nvSpPr>
        <p:spPr>
          <a:xfrm>
            <a:off x="6217920" y="1554480"/>
            <a:ext cx="5212080"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64208"/>
            <a:ext cx="4882896" cy="292608"/>
          </a:xfrm>
          <a:prstGeom prst="rect">
            <a:avLst/>
          </a:prstGeom>
          <a:noFill/>
        </p:spPr>
        <p:txBody>
          <a:bodyPr wrap="square" lIns="0" tIns="0" rIns="0" bIns="0">
            <a:spAutoFit/>
          </a:bodyPr>
          <a:lstStyle/>
          <a:p>
            <a:pPr>
              <a:defRPr sz="1150" b="1">
                <a:solidFill>
                  <a:srgbClr val="1E3A8A"/>
                </a:solidFill>
              </a:defRPr>
            </a:pPr>
            <a:r>
              <a:t>INNOVATION / UNIQUENESS</a:t>
            </a:r>
          </a:p>
        </p:txBody>
      </p:sp>
      <p:sp>
        <p:nvSpPr>
          <p:cNvPr id="11" name="TextBox 10"/>
          <p:cNvSpPr txBox="1"/>
          <p:nvPr/>
        </p:nvSpPr>
        <p:spPr>
          <a:xfrm>
            <a:off x="6382512" y="1956816"/>
            <a:ext cx="4882896" cy="1874520"/>
          </a:xfrm>
          <a:prstGeom prst="rect">
            <a:avLst/>
          </a:prstGeom>
          <a:noFill/>
        </p:spPr>
        <p:txBody>
          <a:bodyPr wrap="square" lIns="0" tIns="0" rIns="0" bIns="0">
            <a:spAutoFit/>
          </a:bodyPr>
          <a:lstStyle/>
          <a:p/>
          <a:p>
            <a:pPr>
              <a:spcAft>
                <a:spcPts val="400"/>
              </a:spcAft>
            </a:pPr>
            <a:r>
              <a:rPr sz="950" b="1">
                <a:solidFill>
                  <a:srgbClr val="1E3A8A"/>
                </a:solidFill>
              </a:rPr>
              <a:t>• Positive Detection + Derived Absence: </a:t>
            </a:r>
            <a:r>
              <a:rPr sz="900">
                <a:solidFill>
                  <a:srgbClr val="1E293B"/>
                </a:solidFill>
              </a:rPr>
              <a:t>Avoids training noisy negative classes (e.g. no_helmet). Positively detects items and verifies anatomical overlap with tracked worker bodies.</a:t>
            </a:r>
          </a:p>
          <a:p>
            <a:pPr>
              <a:spcAft>
                <a:spcPts val="400"/>
              </a:spcAft>
            </a:pPr>
            <a:r>
              <a:rPr sz="950" b="1">
                <a:solidFill>
                  <a:srgbClr val="1E3A8A"/>
                </a:solidFill>
              </a:rPr>
              <a:t>• Strict Ambiguity Invariant (UNKNOWN != VIOLATION): </a:t>
            </a:r>
            <a:r>
              <a:rPr sz="900">
                <a:solidFill>
                  <a:srgbClr val="1E293B"/>
                </a:solidFill>
              </a:rPr>
              <a:t>Partial machine occlusions or boundary clipping yield an UNKNOWN state; UNKNOWN strictly never triggers false violation alarms.</a:t>
            </a:r>
          </a:p>
          <a:p>
            <a:pPr>
              <a:spcAft>
                <a:spcPts val="400"/>
              </a:spcAft>
            </a:pPr>
            <a:r>
              <a:rPr sz="950" b="1">
                <a:solidFill>
                  <a:srgbClr val="1E3A8A"/>
                </a:solidFill>
              </a:rPr>
              <a:t>• Zero-Biometric Privacy Architecture: </a:t>
            </a:r>
            <a:r>
              <a:rPr sz="900">
                <a:solidFill>
                  <a:srgbClr val="1E293B"/>
                </a:solidFill>
              </a:rPr>
              <a:t>Employs anonymous ByteTrack integer track IDs (Track #101); zero facial recognition, zero facial vector storage, and zero PII collected.</a:t>
            </a:r>
          </a:p>
        </p:txBody>
      </p:sp>
      <p:sp>
        <p:nvSpPr>
          <p:cNvPr id="12" name="Rounded Rectangle 11"/>
          <p:cNvSpPr/>
          <p:nvPr/>
        </p:nvSpPr>
        <p:spPr>
          <a:xfrm>
            <a:off x="731520" y="4069080"/>
            <a:ext cx="10728655" cy="23774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178808"/>
            <a:ext cx="10399471" cy="292608"/>
          </a:xfrm>
          <a:prstGeom prst="rect">
            <a:avLst/>
          </a:prstGeom>
          <a:noFill/>
        </p:spPr>
        <p:txBody>
          <a:bodyPr wrap="square" lIns="0" tIns="0" rIns="0" bIns="0">
            <a:spAutoFit/>
          </a:bodyPr>
          <a:lstStyle/>
          <a:p>
            <a:pPr>
              <a:defRPr sz="1150" b="1">
                <a:solidFill>
                  <a:srgbClr val="1E3A8A"/>
                </a:solidFill>
              </a:defRPr>
            </a:pPr>
            <a:r>
              <a:t>KEY FEATURES (VERIFIED IMPLEMENTED FEATURES)</a:t>
            </a:r>
          </a:p>
        </p:txBody>
      </p:sp>
      <p:sp>
        <p:nvSpPr>
          <p:cNvPr id="14" name="TextBox 13"/>
          <p:cNvSpPr txBox="1"/>
          <p:nvPr/>
        </p:nvSpPr>
        <p:spPr>
          <a:xfrm>
            <a:off x="896112" y="4471416"/>
            <a:ext cx="10399471" cy="1920240"/>
          </a:xfrm>
          <a:prstGeom prst="rect">
            <a:avLst/>
          </a:prstGeom>
          <a:noFill/>
        </p:spPr>
        <p:txBody>
          <a:bodyPr wrap="square" lIns="0" tIns="0" rIns="0" bIns="0">
            <a:spAutoFit/>
          </a:bodyPr>
          <a:lstStyle/>
          <a:p/>
          <a:p>
            <a:pPr>
              <a:spcAft>
                <a:spcPts val="250"/>
              </a:spcAft>
              <a:defRPr sz="900">
                <a:solidFill>
                  <a:srgbClr val="1E293B"/>
                </a:solidFill>
              </a:defRPr>
            </a:pPr>
            <a:r>
              <a:t>• Real-Time PPE Compliance: 4-zone anatomical association (Head, Torso, Hands, Feet)  • Temporal Validation: N_confirm = 3 consecutive frames eliminates 1-frame false alarms</a:t>
            </a:r>
          </a:p>
          <a:p>
            <a:pPr>
              <a:spcAft>
                <a:spcPts val="250"/>
              </a:spcAft>
              <a:defRPr sz="900">
                <a:solidFill>
                  <a:srgbClr val="1E293B"/>
                </a:solidFill>
              </a:defRPr>
            </a:pPr>
            <a:r>
              <a:t>• Worker-Level PPE Association: Nearest-centroid IoU mapping eliminates double-counting  • Location-Specific Policy: Declarative YAML zone rules (e.g. mandatory boots in Loading Dock)</a:t>
            </a:r>
          </a:p>
          <a:p>
            <a:pPr>
              <a:spcAft>
                <a:spcPts val="250"/>
              </a:spcAft>
              <a:defRPr sz="900">
                <a:solidFill>
                  <a:srgbClr val="1E293B"/>
                </a:solidFill>
              </a:defRPr>
            </a:pPr>
            <a:r>
              <a:t>• Helmet &amp; Safety Vest Detection: High-confidence cranial and thoracic coverage validation  • Multi-Camera Monitoring: Thread-isolated RTSP, USB Webcam, HTTP MJPEG, and file inputs</a:t>
            </a:r>
          </a:p>
          <a:p>
            <a:pPr>
              <a:spcAft>
                <a:spcPts val="250"/>
              </a:spcAft>
              <a:defRPr sz="900">
                <a:solidFill>
                  <a:srgbClr val="1E293B"/>
                </a:solidFill>
              </a:defRPr>
            </a:pPr>
            <a:r>
              <a:t>• Protective Gloves &amp; Footwear: Distal limb detection with far-field UNKNOWN suppression  • Real-Time Dashboard: React 18 SOC interface with live video HUD &amp; WebSocket streaming</a:t>
            </a:r>
          </a:p>
          <a:p>
            <a:pPr>
              <a:spcAft>
                <a:spcPts val="250"/>
              </a:spcAft>
              <a:defRPr sz="900">
                <a:solidFill>
                  <a:srgbClr val="1E293B"/>
                </a:solidFill>
              </a:defRPr>
            </a:pPr>
            <a:r>
              <a:t>• Fire and Smoke Detection: Dual-channel 7-stage state machine (N_confirm = 5 frames)  • Incident &amp; Evidence Tracking: SHA-256 hashed photographic snapshots &amp; 60s alert cooldown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284C7"/>
                </a:solidFill>
              </a:defRPr>
            </a:pPr>
            <a:r>
              <a:t>BPUT HACKATHON 2026   |   PROBLEM STATEMENT PS06   |   SLIDE 3 OF 6</a:t>
            </a:r>
          </a:p>
        </p:txBody>
      </p:sp>
      <p:sp>
        <p:nvSpPr>
          <p:cNvPr id="3" name="TextBox 2"/>
          <p:cNvSpPr txBox="1"/>
          <p:nvPr/>
        </p:nvSpPr>
        <p:spPr>
          <a:xfrm>
            <a:off x="731520" y="594360"/>
            <a:ext cx="10728655" cy="457200"/>
          </a:xfrm>
          <a:prstGeom prst="rect">
            <a:avLst/>
          </a:prstGeom>
          <a:noFill/>
        </p:spPr>
        <p:txBody>
          <a:bodyPr wrap="square" lIns="0" tIns="0" rIns="0" bIns="0">
            <a:spAutoFit/>
          </a:bodyPr>
          <a:lstStyle/>
          <a:p>
            <a:pPr>
              <a:defRPr sz="2200" b="1">
                <a:solidFill>
                  <a:srgbClr val="0F172A"/>
                </a:solidFill>
              </a:defRPr>
            </a:pPr>
            <a:r>
              <a:t>TECHNICAL APPROACH</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100">
                <a:solidFill>
                  <a:srgbClr val="64748B"/>
                </a:solidFill>
              </a:defRPr>
            </a:pPr>
            <a:r>
              <a:t>Production-Grade AI Pipeline, Decoupled Architecture &amp; Real Prototype Evidence</a:t>
            </a:r>
          </a:p>
        </p:txBody>
      </p:sp>
      <p:sp>
        <p:nvSpPr>
          <p:cNvPr id="5" name="Rectangle 4"/>
          <p:cNvSpPr/>
          <p:nvPr/>
        </p:nvSpPr>
        <p:spPr>
          <a:xfrm>
            <a:off x="731520" y="13716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291840"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2962656" cy="292608"/>
          </a:xfrm>
          <a:prstGeom prst="rect">
            <a:avLst/>
          </a:prstGeom>
          <a:noFill/>
        </p:spPr>
        <p:txBody>
          <a:bodyPr wrap="square" lIns="0" tIns="0" rIns="0" bIns="0">
            <a:spAutoFit/>
          </a:bodyPr>
          <a:lstStyle/>
          <a:p>
            <a:pPr>
              <a:defRPr sz="1150" b="1">
                <a:solidFill>
                  <a:srgbClr val="1E3A8A"/>
                </a:solidFill>
              </a:defRPr>
            </a:pPr>
            <a:r>
              <a:t>TECHNOLOGIES USED</a:t>
            </a:r>
          </a:p>
        </p:txBody>
      </p:sp>
      <p:sp>
        <p:nvSpPr>
          <p:cNvPr id="8" name="TextBox 7"/>
          <p:cNvSpPr txBox="1"/>
          <p:nvPr/>
        </p:nvSpPr>
        <p:spPr>
          <a:xfrm>
            <a:off x="896112" y="1956816"/>
            <a:ext cx="2962656" cy="4434840"/>
          </a:xfrm>
          <a:prstGeom prst="rect">
            <a:avLst/>
          </a:prstGeom>
          <a:noFill/>
        </p:spPr>
        <p:txBody>
          <a:bodyPr wrap="square" lIns="0" tIns="0" rIns="0" bIns="0">
            <a:spAutoFit/>
          </a:bodyPr>
          <a:lstStyle/>
          <a:p/>
          <a:p>
            <a:pPr>
              <a:spcAft>
                <a:spcPts val="400"/>
              </a:spcAft>
            </a:pPr>
            <a:r>
              <a:rPr sz="950" b="1">
                <a:solidFill>
                  <a:srgbClr val="1E3A8A"/>
                </a:solidFill>
              </a:rPr>
              <a:t>Programming Languages:
</a:t>
            </a:r>
            <a:r>
              <a:rPr sz="880">
                <a:solidFill>
                  <a:srgbClr val="1E293B"/>
                </a:solidFill>
              </a:rPr>
              <a:t>Python 3.13, TypeScript, SQL</a:t>
            </a:r>
          </a:p>
          <a:p>
            <a:pPr>
              <a:spcAft>
                <a:spcPts val="400"/>
              </a:spcAft>
            </a:pPr>
            <a:r>
              <a:rPr sz="950" b="1">
                <a:solidFill>
                  <a:srgbClr val="1E3A8A"/>
                </a:solidFill>
              </a:rPr>
              <a:t>Frameworks:
</a:t>
            </a:r>
            <a:r>
              <a:rPr sz="880">
                <a:solidFill>
                  <a:srgbClr val="1E293B"/>
                </a:solidFill>
              </a:rPr>
              <a:t>FastAPI, React 18, Vite 6, Tailwind CSS, PyTorch 2.14.0+cpu, OpenCV</a:t>
            </a:r>
          </a:p>
          <a:p>
            <a:pPr>
              <a:spcAft>
                <a:spcPts val="400"/>
              </a:spcAft>
            </a:pPr>
            <a:r>
              <a:rPr sz="950" b="1">
                <a:solidFill>
                  <a:srgbClr val="1E3A8A"/>
                </a:solidFill>
              </a:rPr>
              <a:t>AI/ML Models:
</a:t>
            </a:r>
            <a:r>
              <a:rPr sz="880">
                <a:solidFill>
                  <a:srgbClr val="1E293B"/>
                </a:solidFill>
              </a:rPr>
              <a:t>Ultralytics YOLOv8n (384x384), ByteTrack 8-State Kalman Filter</a:t>
            </a:r>
          </a:p>
          <a:p>
            <a:pPr>
              <a:spcAft>
                <a:spcPts val="400"/>
              </a:spcAft>
            </a:pPr>
            <a:r>
              <a:rPr sz="950" b="1">
                <a:solidFill>
                  <a:srgbClr val="1E3A8A"/>
                </a:solidFill>
              </a:rPr>
              <a:t>Database:
</a:t>
            </a:r>
            <a:r>
              <a:rPr sz="880">
                <a:solidFill>
                  <a:srgbClr val="1E293B"/>
                </a:solidFill>
              </a:rPr>
              <a:t>SQLite (WAL Mode, PRAGMA synchronous=NORMAL, 5000ms busy timeout)</a:t>
            </a:r>
          </a:p>
          <a:p>
            <a:pPr>
              <a:spcAft>
                <a:spcPts val="400"/>
              </a:spcAft>
            </a:pPr>
            <a:r>
              <a:rPr sz="950" b="1">
                <a:solidFill>
                  <a:srgbClr val="1E3A8A"/>
                </a:solidFill>
              </a:rPr>
              <a:t>APIs:
</a:t>
            </a:r>
            <a:r>
              <a:rPr sz="880">
                <a:solidFill>
                  <a:srgbClr val="1E293B"/>
                </a:solidFill>
              </a:rPr>
              <a:t>Async REST APIs, WebSockets (/ws/events, /ws/alerts), Prometheus /metrics</a:t>
            </a:r>
          </a:p>
          <a:p>
            <a:pPr>
              <a:spcAft>
                <a:spcPts val="400"/>
              </a:spcAft>
            </a:pPr>
            <a:r>
              <a:rPr sz="950" b="1">
                <a:solidFill>
                  <a:srgbClr val="1E3A8A"/>
                </a:solidFill>
              </a:rPr>
              <a:t>Hardware / Sensors:
</a:t>
            </a:r>
            <a:r>
              <a:rPr sz="880">
                <a:solidFill>
                  <a:srgbClr val="1E293B"/>
                </a:solidFill>
              </a:rPr>
              <a:t>13th Gen Intel Core i5 CPU, USB Webcams, IP Cameras, RTSP Feeds</a:t>
            </a:r>
          </a:p>
        </p:txBody>
      </p:sp>
      <p:sp>
        <p:nvSpPr>
          <p:cNvPr id="9" name="Rounded Rectangle 8"/>
          <p:cNvSpPr/>
          <p:nvPr/>
        </p:nvSpPr>
        <p:spPr>
          <a:xfrm>
            <a:off x="4206240" y="1554480"/>
            <a:ext cx="3657600"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0832" y="1664208"/>
            <a:ext cx="3328416" cy="292608"/>
          </a:xfrm>
          <a:prstGeom prst="rect">
            <a:avLst/>
          </a:prstGeom>
          <a:noFill/>
        </p:spPr>
        <p:txBody>
          <a:bodyPr wrap="square" lIns="0" tIns="0" rIns="0" bIns="0">
            <a:spAutoFit/>
          </a:bodyPr>
          <a:lstStyle/>
          <a:p>
            <a:pPr>
              <a:defRPr sz="1150" b="1">
                <a:solidFill>
                  <a:srgbClr val="1E3A8A"/>
                </a:solidFill>
              </a:defRPr>
            </a:pPr>
            <a:r>
              <a:t>METHODOLOGY &amp; SYSTEM ARCHITECTURE</a:t>
            </a:r>
          </a:p>
        </p:txBody>
      </p:sp>
      <p:sp>
        <p:nvSpPr>
          <p:cNvPr id="11" name="TextBox 10"/>
          <p:cNvSpPr txBox="1"/>
          <p:nvPr/>
        </p:nvSpPr>
        <p:spPr>
          <a:xfrm>
            <a:off x="4370832" y="1956816"/>
            <a:ext cx="3328416" cy="4434840"/>
          </a:xfrm>
          <a:prstGeom prst="rect">
            <a:avLst/>
          </a:prstGeom>
          <a:noFill/>
        </p:spPr>
        <p:txBody>
          <a:bodyPr wrap="square" lIns="0" tIns="0" rIns="0" bIns="0">
            <a:spAutoFit/>
          </a:bodyPr>
          <a:lstStyle/>
          <a:p/>
          <a:p>
            <a:pPr>
              <a:spcAft>
                <a:spcPts val="200"/>
              </a:spcAft>
              <a:defRPr sz="950" b="1">
                <a:solidFill>
                  <a:srgbClr val="1E3A8A"/>
                </a:solidFill>
              </a:defRPr>
            </a:pPr>
            <a:r>
              <a:t>Step-by-Step Methodology:</a:t>
            </a:r>
          </a:p>
          <a:p>
            <a:pPr>
              <a:spcAft>
                <a:spcPts val="150"/>
              </a:spcAft>
              <a:defRPr sz="819">
                <a:solidFill>
                  <a:srgbClr val="1E293B"/>
                </a:solidFill>
              </a:defRPr>
            </a:pPr>
            <a:r>
              <a:t>1. Ingestion: Thread-isolated worker buffers frame (Queue depth = 1).</a:t>
            </a:r>
          </a:p>
          <a:p>
            <a:pPr>
              <a:spcAft>
                <a:spcPts val="150"/>
              </a:spcAft>
              <a:defRPr sz="819">
                <a:solidFill>
                  <a:srgbClr val="1E293B"/>
                </a:solidFill>
              </a:defRPr>
            </a:pPr>
            <a:r>
              <a:t>2. AI Detection: Single-pass YOLOv8n outputs 7 canonical classes.</a:t>
            </a:r>
          </a:p>
          <a:p>
            <a:pPr>
              <a:spcAft>
                <a:spcPts val="150"/>
              </a:spcAft>
              <a:defRPr sz="819">
                <a:solidFill>
                  <a:srgbClr val="1E293B"/>
                </a:solidFill>
              </a:defRPr>
            </a:pPr>
            <a:r>
              <a:t>3. Tracking: ByteTrack links worker Kalman trajectories anonymously.</a:t>
            </a:r>
          </a:p>
          <a:p>
            <a:pPr>
              <a:spcAft>
                <a:spcPts val="150"/>
              </a:spcAft>
              <a:defRPr sz="819">
                <a:solidFill>
                  <a:srgbClr val="1E293B"/>
                </a:solidFill>
              </a:defRPr>
            </a:pPr>
            <a:r>
              <a:t>4. Spatial Zoning: Maps PPE to Head (25%), Torso (20-70%), Hands, Feet.</a:t>
            </a:r>
          </a:p>
          <a:p>
            <a:pPr>
              <a:spcAft>
                <a:spcPts val="150"/>
              </a:spcAft>
              <a:defRPr sz="819">
                <a:solidFill>
                  <a:srgbClr val="1E293B"/>
                </a:solidFill>
              </a:defRPr>
            </a:pPr>
            <a:r>
              <a:t>5. Debouncing: Requires N_confirm = 3 frames (PPE) or N=5 (Hazard).</a:t>
            </a:r>
          </a:p>
          <a:p>
            <a:pPr>
              <a:spcAft>
                <a:spcPts val="150"/>
              </a:spcAft>
              <a:defRPr sz="819">
                <a:solidFill>
                  <a:srgbClr val="1E293B"/>
                </a:solidFill>
              </a:defRPr>
            </a:pPr>
            <a:r>
              <a:t>6. Risk &amp; Push: Calculates 0-100 risk score; dispatches via WebSockets.</a:t>
            </a:r>
          </a:p>
          <a:p>
            <a:pPr>
              <a:spcBef>
                <a:spcPts val="400"/>
              </a:spcBef>
              <a:spcAft>
                <a:spcPts val="200"/>
              </a:spcAft>
              <a:defRPr sz="950" b="1">
                <a:solidFill>
                  <a:srgbClr val="1E3A8A"/>
                </a:solidFill>
              </a:defRPr>
            </a:pPr>
            <a:r>
              <a:t>System Architecture / Flow:</a:t>
            </a:r>
          </a:p>
          <a:p>
            <a:pPr>
              <a:defRPr sz="760">
                <a:solidFill>
                  <a:srgbClr val="1E293B"/>
                </a:solidFill>
              </a:defRPr>
            </a:pPr>
            <a:r>
              <a:t>Camera / CCTV / Video Feed</a:t>
            </a:r>
            <a:br/>
            <a:r>
              <a:t>         ↓</a:t>
            </a:r>
            <a:br/>
            <a:r>
              <a:t>Frame Capture (Queue Depth = 1)</a:t>
            </a:r>
            <a:br/>
            <a:r>
              <a:t>         ↓</a:t>
            </a:r>
            <a:br/>
            <a:r>
              <a:t>AI Detection (Ultralytics YOLOv8n)</a:t>
            </a:r>
            <a:br/>
            <a:r>
              <a:t>         ↓</a:t>
            </a:r>
            <a:br/>
            <a:r>
              <a:t>Person + PPE + Hazard Detection</a:t>
            </a:r>
            <a:br/>
            <a:r>
              <a:t>         ↓</a:t>
            </a:r>
            <a:br/>
            <a:r>
              <a:t>Worker Tracking (ByteTrack)</a:t>
            </a:r>
            <a:br/>
            <a:r>
              <a:t>         ↓</a:t>
            </a:r>
            <a:br/>
            <a:r>
              <a:t>PPE Association (4-Zone Geometry)</a:t>
            </a:r>
            <a:br/>
            <a:r>
              <a:t>         ↓</a:t>
            </a:r>
            <a:br/>
            <a:r>
              <a:t>Temporal Validation (N_confirm = 3)</a:t>
            </a:r>
            <a:br/>
            <a:r>
              <a:t>         ↓</a:t>
            </a:r>
            <a:br/>
            <a:r>
              <a:t>Safety / Risk Engine (0-100 Score)</a:t>
            </a:r>
            <a:br/>
            <a:r>
              <a:t>         ↓</a:t>
            </a:r>
            <a:br/>
            <a:r>
              <a:t>Incident &amp; Alert Engine (60s Cooldown)</a:t>
            </a:r>
            <a:br/>
            <a:r>
              <a:t>         ↓</a:t>
            </a:r>
            <a:br/>
            <a:r>
              <a:t>Database (WAL) + WebSocket Gateway</a:t>
            </a:r>
            <a:br/>
            <a:r>
              <a:t>         ↓</a:t>
            </a:r>
            <a:br/>
            <a:r>
              <a:t>SafeSync React 18 Dashboard</a:t>
            </a:r>
          </a:p>
        </p:txBody>
      </p:sp>
      <p:sp>
        <p:nvSpPr>
          <p:cNvPr id="12" name="Rounded Rectangle 11"/>
          <p:cNvSpPr/>
          <p:nvPr/>
        </p:nvSpPr>
        <p:spPr>
          <a:xfrm>
            <a:off x="8046720" y="1554480"/>
            <a:ext cx="3413455"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664208"/>
            <a:ext cx="3084271" cy="292608"/>
          </a:xfrm>
          <a:prstGeom prst="rect">
            <a:avLst/>
          </a:prstGeom>
          <a:noFill/>
        </p:spPr>
        <p:txBody>
          <a:bodyPr wrap="square" lIns="0" tIns="0" rIns="0" bIns="0">
            <a:spAutoFit/>
          </a:bodyPr>
          <a:lstStyle/>
          <a:p>
            <a:pPr>
              <a:defRPr sz="1150" b="1">
                <a:solidFill>
                  <a:srgbClr val="1E3A8A"/>
                </a:solidFill>
              </a:defRPr>
            </a:pPr>
            <a:r>
              <a:t>WORKING PROTOTYPE / DEMO</a:t>
            </a:r>
          </a:p>
        </p:txBody>
      </p:sp>
      <p:sp>
        <p:nvSpPr>
          <p:cNvPr id="14" name="TextBox 13"/>
          <p:cNvSpPr txBox="1"/>
          <p:nvPr/>
        </p:nvSpPr>
        <p:spPr>
          <a:xfrm>
            <a:off x="8211312" y="1956816"/>
            <a:ext cx="3084271" cy="4434840"/>
          </a:xfrm>
          <a:prstGeom prst="rect">
            <a:avLst/>
          </a:prstGeom>
          <a:noFill/>
        </p:spPr>
        <p:txBody>
          <a:bodyPr wrap="square" lIns="0" tIns="0" rIns="0" bIns="0">
            <a:spAutoFit/>
          </a:bodyPr>
          <a:lstStyle/>
          <a:p/>
          <a:p>
            <a:pPr>
              <a:spcAft>
                <a:spcPts val="200"/>
              </a:spcAft>
              <a:defRPr sz="950" b="1">
                <a:solidFill>
                  <a:srgbClr val="1E3A8A"/>
                </a:solidFill>
              </a:defRPr>
            </a:pPr>
            <a:r>
              <a:t>Live Implementation Evidence:</a:t>
            </a:r>
          </a:p>
          <a:p>
            <a:pPr>
              <a:spcAft>
                <a:spcPts val="150"/>
              </a:spcAft>
            </a:pPr>
            <a:r>
              <a:rPr sz="819" b="1">
                <a:solidFill>
                  <a:srgbClr val="1E293B"/>
                </a:solidFill>
              </a:rPr>
              <a:t>• Unit Test Suite: </a:t>
            </a:r>
            <a:r>
              <a:rPr sz="819">
                <a:solidFill>
                  <a:srgbClr val="10956A"/>
                </a:solidFill>
              </a:rPr>
              <a:t>250 / 250 Passing (100% Pass Rate)</a:t>
            </a:r>
          </a:p>
          <a:p>
            <a:pPr>
              <a:spcAft>
                <a:spcPts val="150"/>
              </a:spcAft>
            </a:pPr>
            <a:r>
              <a:rPr sz="819" b="1">
                <a:solidFill>
                  <a:srgbClr val="1E293B"/>
                </a:solidFill>
              </a:rPr>
              <a:t>• Integration Suite: </a:t>
            </a:r>
            <a:r>
              <a:rPr sz="819">
                <a:solidFill>
                  <a:srgbClr val="10956A"/>
                </a:solidFill>
              </a:rPr>
              <a:t>39 / 39 Real-World Scenarios Passing</a:t>
            </a:r>
          </a:p>
          <a:p>
            <a:pPr>
              <a:spcAft>
                <a:spcPts val="150"/>
              </a:spcAft>
            </a:pPr>
            <a:r>
              <a:rPr sz="819" b="1">
                <a:solidFill>
                  <a:srgbClr val="1E293B"/>
                </a:solidFill>
              </a:rPr>
              <a:t>• End-to-End Recovery: </a:t>
            </a:r>
            <a:r>
              <a:rPr sz="819">
                <a:solidFill>
                  <a:srgbClr val="10956A"/>
                </a:solidFill>
              </a:rPr>
              <a:t>20 / 20 Matrix Tests Verified</a:t>
            </a:r>
          </a:p>
          <a:p>
            <a:pPr>
              <a:spcAft>
                <a:spcPts val="150"/>
              </a:spcAft>
            </a:pPr>
            <a:r>
              <a:rPr sz="819" b="1">
                <a:solidFill>
                  <a:srgbClr val="1E293B"/>
                </a:solidFill>
              </a:rPr>
              <a:t>• Measured Latency: </a:t>
            </a:r>
            <a:r>
              <a:rPr sz="819">
                <a:solidFill>
                  <a:srgbClr val="10956A"/>
                </a:solidFill>
              </a:rPr>
              <a:t>56.45 ms/frame (~18 FPS on CPU)</a:t>
            </a:r>
          </a:p>
          <a:p>
            <a:pPr>
              <a:spcAft>
                <a:spcPts val="150"/>
              </a:spcAft>
            </a:pPr>
            <a:r>
              <a:rPr sz="819" b="1">
                <a:solidFill>
                  <a:srgbClr val="1E293B"/>
                </a:solidFill>
              </a:rPr>
              <a:t>• Optical Challenge: </a:t>
            </a:r>
            <a:r>
              <a:rPr sz="819">
                <a:solidFill>
                  <a:srgbClr val="10956A"/>
                </a:solidFill>
              </a:rPr>
              <a:t>0 / 13 False Positives (100% Rejection)</a:t>
            </a:r>
          </a:p>
        </p:txBody>
      </p:sp>
      <p:pic>
        <p:nvPicPr>
          <p:cNvPr id="15" name="Picture 14" descr="val_batch0_pred.jpg"/>
          <p:cNvPicPr>
            <a:picLocks noChangeAspect="1"/>
          </p:cNvPicPr>
          <p:nvPr/>
        </p:nvPicPr>
        <p:blipFill>
          <a:blip r:embed="rId2"/>
          <a:stretch>
            <a:fillRect/>
          </a:stretch>
        </p:blipFill>
        <p:spPr>
          <a:xfrm>
            <a:off x="8183879" y="3520440"/>
            <a:ext cx="3154680" cy="2788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284C7"/>
                </a:solidFill>
              </a:defRPr>
            </a:pPr>
            <a:r>
              <a:t>BPUT HACKATHON 2026   |   PROBLEM STATEMENT PS06   |   SLIDE 4 OF 6</a:t>
            </a:r>
          </a:p>
        </p:txBody>
      </p:sp>
      <p:sp>
        <p:nvSpPr>
          <p:cNvPr id="3" name="TextBox 2"/>
          <p:cNvSpPr txBox="1"/>
          <p:nvPr/>
        </p:nvSpPr>
        <p:spPr>
          <a:xfrm>
            <a:off x="731520" y="594360"/>
            <a:ext cx="10728655" cy="457200"/>
          </a:xfrm>
          <a:prstGeom prst="rect">
            <a:avLst/>
          </a:prstGeom>
          <a:noFill/>
        </p:spPr>
        <p:txBody>
          <a:bodyPr wrap="square" lIns="0" tIns="0" rIns="0" bIns="0">
            <a:spAutoFit/>
          </a:bodyPr>
          <a:lstStyle/>
          <a:p>
            <a:pPr>
              <a:defRPr sz="2200" b="1">
                <a:solidFill>
                  <a:srgbClr val="0F172A"/>
                </a:solidFill>
              </a:defRPr>
            </a:pPr>
            <a:r>
              <a:t>FEASIBILITY AND VIABILITY</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100">
                <a:solidFill>
                  <a:srgbClr val="64748B"/>
                </a:solidFill>
              </a:defRPr>
            </a:pPr>
            <a:r>
              <a:t>Technical Feasibility, Financial Viability, Operational Workflow &amp; Mitigations</a:t>
            </a:r>
          </a:p>
        </p:txBody>
      </p:sp>
      <p:sp>
        <p:nvSpPr>
          <p:cNvPr id="5" name="Rectangle 4"/>
          <p:cNvSpPr/>
          <p:nvPr/>
        </p:nvSpPr>
        <p:spPr>
          <a:xfrm>
            <a:off x="731520" y="13716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12080" cy="23774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4882896" cy="292608"/>
          </a:xfrm>
          <a:prstGeom prst="rect">
            <a:avLst/>
          </a:prstGeom>
          <a:noFill/>
        </p:spPr>
        <p:txBody>
          <a:bodyPr wrap="square" lIns="0" tIns="0" rIns="0" bIns="0">
            <a:spAutoFit/>
          </a:bodyPr>
          <a:lstStyle/>
          <a:p>
            <a:pPr>
              <a:defRPr sz="1150" b="1">
                <a:solidFill>
                  <a:srgbClr val="1E3A8A"/>
                </a:solidFill>
              </a:defRPr>
            </a:pPr>
            <a:r>
              <a:t>TECHNICAL &amp; FINANCIAL FEASIBILITY</a:t>
            </a:r>
          </a:p>
        </p:txBody>
      </p:sp>
      <p:sp>
        <p:nvSpPr>
          <p:cNvPr id="8" name="TextBox 7"/>
          <p:cNvSpPr txBox="1"/>
          <p:nvPr/>
        </p:nvSpPr>
        <p:spPr>
          <a:xfrm>
            <a:off x="896112" y="1956816"/>
            <a:ext cx="4882896" cy="1920240"/>
          </a:xfrm>
          <a:prstGeom prst="rect">
            <a:avLst/>
          </a:prstGeom>
          <a:noFill/>
        </p:spPr>
        <p:txBody>
          <a:bodyPr wrap="square" lIns="0" tIns="0" rIns="0" bIns="0">
            <a:spAutoFit/>
          </a:bodyPr>
          <a:lstStyle/>
          <a:p/>
          <a:p>
            <a:pPr>
              <a:spcAft>
                <a:spcPts val="150"/>
              </a:spcAft>
              <a:defRPr sz="950" b="1">
                <a:solidFill>
                  <a:srgbClr val="1E3A8A"/>
                </a:solidFill>
              </a:defRPr>
            </a:pPr>
            <a:r>
              <a:t>TECHNICAL FEASIBILITY (VERIFIED ON REAL HARDWARE)</a:t>
            </a:r>
          </a:p>
          <a:p>
            <a:pPr>
              <a:spcAft>
                <a:spcPts val="150"/>
              </a:spcAft>
              <a:defRPr sz="850">
                <a:solidFill>
                  <a:srgbClr val="1E293B"/>
                </a:solidFill>
              </a:defRPr>
            </a:pPr>
            <a:r>
              <a:t>• AI Model: YOLOv8n (3.2M params) operates at 384x384 input resolution with SHA-256 integrity check.</a:t>
            </a:r>
          </a:p>
          <a:p>
            <a:pPr>
              <a:spcAft>
                <a:spcPts val="150"/>
              </a:spcAft>
              <a:defRPr sz="850">
                <a:solidFill>
                  <a:srgbClr val="1E293B"/>
                </a:solidFill>
              </a:defRPr>
            </a:pPr>
            <a:r>
              <a:t>• Hardware Requirements: Validated on commodity 13th Gen Intel Core i5 CPU without requiring discrete GPUs.</a:t>
            </a:r>
          </a:p>
          <a:p>
            <a:pPr>
              <a:spcAft>
                <a:spcPts val="150"/>
              </a:spcAft>
              <a:defRPr sz="850">
                <a:solidFill>
                  <a:srgbClr val="1E293B"/>
                </a:solidFill>
              </a:defRPr>
            </a:pPr>
            <a:r>
              <a:t>• Camera/Video Compatibility: Ingests standard USB Webcams, HTTP MJPEG, RTSP feeds, and video files.</a:t>
            </a:r>
          </a:p>
          <a:p>
            <a:pPr>
              <a:spcAft>
                <a:spcPts val="150"/>
              </a:spcAft>
              <a:defRPr sz="850">
                <a:solidFill>
                  <a:srgbClr val="1E293B"/>
                </a:solidFill>
              </a:defRPr>
            </a:pPr>
            <a:r>
              <a:t>• Real-Time Capability: Sustains ~56.45 ms latency (17.7 FPS) on CPU with bounded queue depth 1.</a:t>
            </a:r>
          </a:p>
          <a:p>
            <a:pPr>
              <a:spcBef>
                <a:spcPts val="300"/>
              </a:spcBef>
              <a:spcAft>
                <a:spcPts val="150"/>
              </a:spcAft>
              <a:defRPr sz="950" b="1">
                <a:solidFill>
                  <a:srgbClr val="1E3A8A"/>
                </a:solidFill>
              </a:defRPr>
            </a:pPr>
            <a:r>
              <a:t>FINANCIAL FEASIBILITY</a:t>
            </a:r>
          </a:p>
          <a:p>
            <a:pPr>
              <a:defRPr sz="850">
                <a:solidFill>
                  <a:srgbClr val="1E293B"/>
                </a:solidFill>
              </a:defRPr>
            </a:pPr>
            <a:r>
              <a:t>• Eliminates Dedicated AI Server Hardware: Runs directly on existing edge or plant PCs.</a:t>
            </a:r>
            <a:br/>
            <a:r>
              <a:t>• Zero Licensing Costs: 100% open-source software stack (Python, FastAPI, React, SQLite, PyTorch).</a:t>
            </a:r>
            <a:br/>
            <a:r>
              <a:t>• Retrofit Compatibility: Connects with existing plant CCTV infrastructure without camera re-cabling.</a:t>
            </a:r>
          </a:p>
        </p:txBody>
      </p:sp>
      <p:sp>
        <p:nvSpPr>
          <p:cNvPr id="9" name="Rounded Rectangle 8"/>
          <p:cNvSpPr/>
          <p:nvPr/>
        </p:nvSpPr>
        <p:spPr>
          <a:xfrm>
            <a:off x="6217920" y="1554480"/>
            <a:ext cx="5212080" cy="23774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64208"/>
            <a:ext cx="4882896" cy="292608"/>
          </a:xfrm>
          <a:prstGeom prst="rect">
            <a:avLst/>
          </a:prstGeom>
          <a:noFill/>
        </p:spPr>
        <p:txBody>
          <a:bodyPr wrap="square" lIns="0" tIns="0" rIns="0" bIns="0">
            <a:spAutoFit/>
          </a:bodyPr>
          <a:lstStyle/>
          <a:p>
            <a:pPr>
              <a:defRPr sz="1150" b="1">
                <a:solidFill>
                  <a:srgbClr val="1E3A8A"/>
                </a:solidFill>
              </a:defRPr>
            </a:pPr>
            <a:r>
              <a:t>OPERATIONAL FEASIBILITY</a:t>
            </a:r>
          </a:p>
        </p:txBody>
      </p:sp>
      <p:sp>
        <p:nvSpPr>
          <p:cNvPr id="11" name="TextBox 10"/>
          <p:cNvSpPr txBox="1"/>
          <p:nvPr/>
        </p:nvSpPr>
        <p:spPr>
          <a:xfrm>
            <a:off x="6382512" y="1956816"/>
            <a:ext cx="4882896" cy="1920240"/>
          </a:xfrm>
          <a:prstGeom prst="rect">
            <a:avLst/>
          </a:prstGeom>
          <a:noFill/>
        </p:spPr>
        <p:txBody>
          <a:bodyPr wrap="square" lIns="0" tIns="0" rIns="0" bIns="0">
            <a:spAutoFit/>
          </a:bodyPr>
          <a:lstStyle/>
          <a:p/>
          <a:p>
            <a:pPr>
              <a:spcAft>
                <a:spcPts val="200"/>
              </a:spcAft>
              <a:defRPr sz="950" b="1">
                <a:solidFill>
                  <a:srgbClr val="1E3A8A"/>
                </a:solidFill>
              </a:defRPr>
            </a:pPr>
            <a:r>
              <a:t>REAL-WORLD INDUSTRIAL CONTROL-ROOM WORKFLOW</a:t>
            </a:r>
          </a:p>
          <a:p>
            <a:pPr>
              <a:spcAft>
                <a:spcPts val="200"/>
              </a:spcAft>
              <a:defRPr sz="850">
                <a:solidFill>
                  <a:srgbClr val="1E293B"/>
                </a:solidFill>
              </a:defRPr>
            </a:pPr>
            <a:r>
              <a:t>• CCTV / Video Monitoring: Continuous automated surveillance operates 24/7 without vigilance fatigue.</a:t>
            </a:r>
          </a:p>
          <a:p>
            <a:pPr>
              <a:spcAft>
                <a:spcPts val="200"/>
              </a:spcAft>
              <a:defRPr sz="850">
                <a:solidFill>
                  <a:srgbClr val="1E293B"/>
                </a:solidFill>
              </a:defRPr>
            </a:pPr>
            <a:r>
              <a:t>• Live Operator Dashboard: Real-time multi-camera grid with per-worker Checklist HUD badges.</a:t>
            </a:r>
          </a:p>
          <a:p>
            <a:pPr>
              <a:spcAft>
                <a:spcPts val="200"/>
              </a:spcAft>
              <a:defRPr sz="850">
                <a:solidFill>
                  <a:srgbClr val="1E293B"/>
                </a:solidFill>
              </a:defRPr>
            </a:pPr>
            <a:r>
              <a:t>• Color-Coded Alert HUD: Green (PRESENT), Red (ABSENT violation), and Gray (UNKNOWN non-alerting).</a:t>
            </a:r>
          </a:p>
          <a:p>
            <a:pPr>
              <a:spcAft>
                <a:spcPts val="200"/>
              </a:spcAft>
              <a:defRPr sz="850">
                <a:solidFill>
                  <a:srgbClr val="1E293B"/>
                </a:solidFill>
              </a:defRPr>
            </a:pPr>
            <a:r>
              <a:t>• Human-in-the-Loop Actions: Control room operators can Acknowledge, Resolve, or Dismiss alerts.</a:t>
            </a:r>
          </a:p>
          <a:p>
            <a:pPr>
              <a:spcAft>
                <a:spcPts val="200"/>
              </a:spcAft>
              <a:defRPr sz="850">
                <a:solidFill>
                  <a:srgbClr val="1E293B"/>
                </a:solidFill>
              </a:defRPr>
            </a:pPr>
            <a:r>
              <a:t>• Multi-Camera Thread Isolation: Ingestion failures on one camera thread never crash neighboring feeds.</a:t>
            </a:r>
          </a:p>
        </p:txBody>
      </p:sp>
      <p:sp>
        <p:nvSpPr>
          <p:cNvPr id="12" name="Rounded Rectangle 11"/>
          <p:cNvSpPr/>
          <p:nvPr/>
        </p:nvSpPr>
        <p:spPr>
          <a:xfrm>
            <a:off x="731520" y="4114800"/>
            <a:ext cx="6858000"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24528"/>
            <a:ext cx="6528816" cy="292608"/>
          </a:xfrm>
          <a:prstGeom prst="rect">
            <a:avLst/>
          </a:prstGeom>
          <a:noFill/>
        </p:spPr>
        <p:txBody>
          <a:bodyPr wrap="square" lIns="0" tIns="0" rIns="0" bIns="0">
            <a:spAutoFit/>
          </a:bodyPr>
          <a:lstStyle/>
          <a:p>
            <a:pPr>
              <a:defRPr sz="1150" b="1">
                <a:solidFill>
                  <a:srgbClr val="1E3A8A"/>
                </a:solidFill>
              </a:defRPr>
            </a:pPr>
            <a:r>
              <a:t>CHALLENGES / RISKS &amp; VERIFIED MITIGATIONS</a:t>
            </a:r>
          </a:p>
        </p:txBody>
      </p:sp>
      <p:sp>
        <p:nvSpPr>
          <p:cNvPr id="14" name="TextBox 13"/>
          <p:cNvSpPr txBox="1"/>
          <p:nvPr/>
        </p:nvSpPr>
        <p:spPr>
          <a:xfrm>
            <a:off x="896112" y="4517136"/>
            <a:ext cx="6528816" cy="1874520"/>
          </a:xfrm>
          <a:prstGeom prst="rect">
            <a:avLst/>
          </a:prstGeom>
          <a:noFill/>
        </p:spPr>
        <p:txBody>
          <a:bodyPr wrap="square" lIns="0" tIns="0" rIns="0" bIns="0">
            <a:spAutoFit/>
          </a:bodyPr>
          <a:lstStyle/>
          <a:p/>
          <a:p>
            <a:pPr>
              <a:spcAft>
                <a:spcPts val="250"/>
              </a:spcAft>
            </a:pPr>
            <a:r>
              <a:rPr sz="850" b="1">
                <a:solidFill>
                  <a:srgbClr val="1E3A8A"/>
                </a:solidFill>
              </a:rPr>
              <a:t>• Challenge: False PPE Absences on Occlusion
  → Solution: </a:t>
            </a:r>
            <a:r>
              <a:rPr sz="850">
                <a:solidFill>
                  <a:srgbClr val="1E293B"/>
                </a:solidFill>
              </a:rPr>
              <a:t>Strict UNKNOWN != VIOLATION policy suppresses alerts during boundary clipping or machine obstruction.</a:t>
            </a:r>
          </a:p>
          <a:p>
            <a:pPr>
              <a:spcAft>
                <a:spcPts val="250"/>
              </a:spcAft>
            </a:pPr>
            <a:r>
              <a:rPr sz="850" b="1">
                <a:solidFill>
                  <a:srgbClr val="1E3A8A"/>
                </a:solidFill>
              </a:rPr>
              <a:t>• Challenge: Hair or Clothing Confusion
  → Solution: </a:t>
            </a:r>
            <a:r>
              <a:rPr sz="850">
                <a:solidFill>
                  <a:srgbClr val="1E293B"/>
                </a:solidFill>
              </a:rPr>
              <a:t>Multi-frame debouncing (N_confirm = 3 consecutive frames) filters transient 1-frame misclassifications.</a:t>
            </a:r>
          </a:p>
          <a:p>
            <a:pPr>
              <a:spcAft>
                <a:spcPts val="250"/>
              </a:spcAft>
            </a:pPr>
            <a:r>
              <a:rPr sz="850" b="1">
                <a:solidFill>
                  <a:srgbClr val="1E3A8A"/>
                </a:solidFill>
              </a:rPr>
              <a:t>• Challenge: Steam, Dust &amp; Welding Glare
  → Solution: </a:t>
            </a:r>
            <a:r>
              <a:rPr sz="850">
                <a:solidFill>
                  <a:srgbClr val="1E293B"/>
                </a:solidFill>
              </a:rPr>
              <a:t>Dual-channel 7-stage state machine (N=5) and negative training data; verified 0/13 false positives.</a:t>
            </a:r>
          </a:p>
          <a:p>
            <a:pPr>
              <a:spcAft>
                <a:spcPts val="250"/>
              </a:spcAft>
            </a:pPr>
            <a:r>
              <a:rPr sz="850" b="1">
                <a:solidFill>
                  <a:srgbClr val="1E3A8A"/>
                </a:solidFill>
              </a:rPr>
              <a:t>• Challenge: Limited Edge CPU Resources
  → Solution: </a:t>
            </a:r>
            <a:r>
              <a:rPr sz="850">
                <a:solidFill>
                  <a:srgbClr val="1E293B"/>
                </a:solidFill>
              </a:rPr>
              <a:t>Thread-isolated latest-frame-wins ingestion (Queue depth = 1) avoids buffer growth and memory bloat.</a:t>
            </a:r>
          </a:p>
          <a:p>
            <a:pPr>
              <a:spcAft>
                <a:spcPts val="250"/>
              </a:spcAft>
            </a:pPr>
            <a:r>
              <a:rPr sz="850" b="1">
                <a:solidFill>
                  <a:srgbClr val="1E3A8A"/>
                </a:solidFill>
              </a:rPr>
              <a:t>• Challenge: Camera or Network Disconnections
  → Solution: </a:t>
            </a:r>
            <a:r>
              <a:rPr sz="850">
                <a:solidFill>
                  <a:srgbClr val="1E293B"/>
                </a:solidFill>
              </a:rPr>
              <a:t>Bounded exponential backoff reconnection loop automatically re-establishes dropped video feeds.</a:t>
            </a:r>
          </a:p>
        </p:txBody>
      </p:sp>
      <p:sp>
        <p:nvSpPr>
          <p:cNvPr id="15" name="Rounded Rectangle 14"/>
          <p:cNvSpPr/>
          <p:nvPr/>
        </p:nvSpPr>
        <p:spPr>
          <a:xfrm>
            <a:off x="7772400" y="4114800"/>
            <a:ext cx="3687775"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4224528"/>
            <a:ext cx="3358591" cy="292608"/>
          </a:xfrm>
          <a:prstGeom prst="rect">
            <a:avLst/>
          </a:prstGeom>
          <a:noFill/>
        </p:spPr>
        <p:txBody>
          <a:bodyPr wrap="square" lIns="0" tIns="0" rIns="0" bIns="0">
            <a:spAutoFit/>
          </a:bodyPr>
          <a:lstStyle/>
          <a:p>
            <a:pPr>
              <a:defRPr sz="1150" b="1">
                <a:solidFill>
                  <a:srgbClr val="1E3A8A"/>
                </a:solidFill>
              </a:defRPr>
            </a:pPr>
            <a:r>
              <a:t>SCALABILITY / FUTURE SCOPE</a:t>
            </a:r>
          </a:p>
        </p:txBody>
      </p:sp>
      <p:sp>
        <p:nvSpPr>
          <p:cNvPr id="17" name="TextBox 16"/>
          <p:cNvSpPr txBox="1"/>
          <p:nvPr/>
        </p:nvSpPr>
        <p:spPr>
          <a:xfrm>
            <a:off x="7936992" y="4517136"/>
            <a:ext cx="3358591" cy="1874520"/>
          </a:xfrm>
          <a:prstGeom prst="rect">
            <a:avLst/>
          </a:prstGeom>
          <a:noFill/>
        </p:spPr>
        <p:txBody>
          <a:bodyPr wrap="square" lIns="0" tIns="0" rIns="0" bIns="0">
            <a:spAutoFit/>
          </a:bodyPr>
          <a:lstStyle/>
          <a:p/>
          <a:p>
            <a:pPr>
              <a:spcAft>
                <a:spcPts val="250"/>
              </a:spcAft>
              <a:defRPr sz="950" b="1">
                <a:solidFill>
                  <a:srgbClr val="1E3A8A"/>
                </a:solidFill>
              </a:defRPr>
            </a:pPr>
            <a:r>
              <a:t>Planned Engineering Roadmap:</a:t>
            </a:r>
          </a:p>
          <a:p>
            <a:pPr>
              <a:spcAft>
                <a:spcPts val="250"/>
              </a:spcAft>
              <a:defRPr sz="819">
                <a:solidFill>
                  <a:srgbClr val="1E293B"/>
                </a:solidFill>
              </a:defRPr>
            </a:pPr>
            <a:r>
              <a:t>• [FUTURE] INT8 TensorRT &amp; ONNX Runtime: Quantization for low-power NVIDIA Jetson Orin edge nodes (&gt;60 FPS).</a:t>
            </a:r>
          </a:p>
          <a:p>
            <a:pPr>
              <a:spcAft>
                <a:spcPts val="250"/>
              </a:spcAft>
              <a:defRPr sz="819">
                <a:solidFill>
                  <a:srgbClr val="1E293B"/>
                </a:solidFill>
              </a:defRPr>
            </a:pPr>
            <a:r>
              <a:t>• [FUTURE] Physical Factory CCTV Pilot: On-site multi-week trial deployment under continuous 72-hour load.</a:t>
            </a:r>
          </a:p>
          <a:p>
            <a:pPr>
              <a:spcAft>
                <a:spcPts val="250"/>
              </a:spcAft>
              <a:defRPr sz="819">
                <a:solidFill>
                  <a:srgbClr val="1E293B"/>
                </a:solidFill>
              </a:defRPr>
            </a:pPr>
            <a:r>
              <a:t>• [FUTURE] Automated PLC Interlocks: Integration with Modbus TCP &amp; MQTT to automatically halt dangerous machinery.</a:t>
            </a:r>
          </a:p>
          <a:p>
            <a:pPr>
              <a:spcAft>
                <a:spcPts val="250"/>
              </a:spcAft>
              <a:defRPr sz="819">
                <a:solidFill>
                  <a:srgbClr val="1E293B"/>
                </a:solidFill>
              </a:defRPr>
            </a:pPr>
            <a:r>
              <a:t>• [FUTURE] Expanded Safety Gear: High-angle safety harnesses, welding face-shields, and hearing protection.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284C7"/>
                </a:solidFill>
              </a:defRPr>
            </a:pPr>
            <a:r>
              <a:t>BPUT HACKATHON 2026   |   PROBLEM STATEMENT PS06   |   SLIDE 5 OF 6</a:t>
            </a:r>
          </a:p>
        </p:txBody>
      </p:sp>
      <p:sp>
        <p:nvSpPr>
          <p:cNvPr id="3" name="TextBox 2"/>
          <p:cNvSpPr txBox="1"/>
          <p:nvPr/>
        </p:nvSpPr>
        <p:spPr>
          <a:xfrm>
            <a:off x="731520" y="594360"/>
            <a:ext cx="10728655" cy="457200"/>
          </a:xfrm>
          <a:prstGeom prst="rect">
            <a:avLst/>
          </a:prstGeom>
          <a:noFill/>
        </p:spPr>
        <p:txBody>
          <a:bodyPr wrap="square" lIns="0" tIns="0" rIns="0" bIns="0">
            <a:spAutoFit/>
          </a:bodyPr>
          <a:lstStyle/>
          <a:p>
            <a:pPr>
              <a:defRPr sz="2200" b="1">
                <a:solidFill>
                  <a:srgbClr val="0F172A"/>
                </a:solidFill>
              </a:defRPr>
            </a:pPr>
            <a:r>
              <a:t>IMPACT AND BENEFITS</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100">
                <a:solidFill>
                  <a:srgbClr val="64748B"/>
                </a:solidFill>
              </a:defRPr>
            </a:pPr>
            <a:r>
              <a:t>Value Proposition, Multi-Sector Real-World Applications &amp; Realistic Impact</a:t>
            </a:r>
          </a:p>
        </p:txBody>
      </p:sp>
      <p:sp>
        <p:nvSpPr>
          <p:cNvPr id="5" name="Rectangle 4"/>
          <p:cNvSpPr/>
          <p:nvPr/>
        </p:nvSpPr>
        <p:spPr>
          <a:xfrm>
            <a:off x="731520" y="13716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12080"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4882896" cy="292608"/>
          </a:xfrm>
          <a:prstGeom prst="rect">
            <a:avLst/>
          </a:prstGeom>
          <a:noFill/>
        </p:spPr>
        <p:txBody>
          <a:bodyPr wrap="square" lIns="0" tIns="0" rIns="0" bIns="0">
            <a:spAutoFit/>
          </a:bodyPr>
          <a:lstStyle/>
          <a:p>
            <a:pPr>
              <a:defRPr sz="1150" b="1">
                <a:solidFill>
                  <a:srgbClr val="1E3A8A"/>
                </a:solidFill>
              </a:defRPr>
            </a:pPr>
            <a:r>
              <a:t>TARGET USERS &amp; EXPECTED IMPACT</a:t>
            </a:r>
          </a:p>
        </p:txBody>
      </p:sp>
      <p:sp>
        <p:nvSpPr>
          <p:cNvPr id="8" name="TextBox 7"/>
          <p:cNvSpPr txBox="1"/>
          <p:nvPr/>
        </p:nvSpPr>
        <p:spPr>
          <a:xfrm>
            <a:off x="896112" y="1956816"/>
            <a:ext cx="4882896" cy="1874520"/>
          </a:xfrm>
          <a:prstGeom prst="rect">
            <a:avLst/>
          </a:prstGeom>
          <a:noFill/>
        </p:spPr>
        <p:txBody>
          <a:bodyPr wrap="square" lIns="0" tIns="0" rIns="0" bIns="0">
            <a:spAutoFit/>
          </a:bodyPr>
          <a:lstStyle/>
          <a:p/>
          <a:p>
            <a:pPr>
              <a:spcAft>
                <a:spcPts val="150"/>
              </a:spcAft>
              <a:defRPr sz="950" b="1">
                <a:solidFill>
                  <a:srgbClr val="1E3A8A"/>
                </a:solidFill>
              </a:defRPr>
            </a:pPr>
            <a:r>
              <a:t>TARGET OPERATIONAL PERSONAS</a:t>
            </a:r>
          </a:p>
          <a:p>
            <a:pPr>
              <a:spcAft>
                <a:spcPts val="150"/>
              </a:spcAft>
              <a:defRPr sz="850">
                <a:solidFill>
                  <a:srgbClr val="1E293B"/>
                </a:solidFill>
              </a:defRPr>
            </a:pPr>
            <a:r>
              <a:t>• Industrial Safety Officers &amp; EHS Managers: Centralized real-time compliance oversight.</a:t>
            </a:r>
          </a:p>
          <a:p>
            <a:pPr>
              <a:spcAft>
                <a:spcPts val="150"/>
              </a:spcAft>
              <a:defRPr sz="850">
                <a:solidFill>
                  <a:srgbClr val="1E293B"/>
                </a:solidFill>
              </a:defRPr>
            </a:pPr>
            <a:r>
              <a:t>• Control-Room Operators: Prioritized visual incident alerts and checklist HUDs.</a:t>
            </a:r>
          </a:p>
          <a:p>
            <a:pPr>
              <a:spcAft>
                <a:spcPts val="150"/>
              </a:spcAft>
              <a:defRPr sz="850">
                <a:solidFill>
                  <a:srgbClr val="1E293B"/>
                </a:solidFill>
              </a:defRPr>
            </a:pPr>
            <a:r>
              <a:t>• Plant Operations Directors: Tamper-evident visual audit trails for regulatory defense.</a:t>
            </a:r>
          </a:p>
          <a:p>
            <a:pPr>
              <a:spcAft>
                <a:spcPts val="150"/>
              </a:spcAft>
              <a:defRPr sz="850">
                <a:solidFill>
                  <a:srgbClr val="1E293B"/>
                </a:solidFill>
              </a:defRPr>
            </a:pPr>
            <a:r>
              <a:t>• Industrial Enterprises: Facility-wide monitoring without hiring dedicated surveillance staff.</a:t>
            </a:r>
          </a:p>
          <a:p>
            <a:pPr>
              <a:spcBef>
                <a:spcPts val="300"/>
              </a:spcBef>
              <a:spcAft>
                <a:spcPts val="150"/>
              </a:spcAft>
              <a:defRPr sz="950" b="1">
                <a:solidFill>
                  <a:srgbClr val="1E3A8A"/>
                </a:solidFill>
              </a:defRPr>
            </a:pPr>
            <a:r>
              <a:t>EXPECTED OPERATIONAL IMPACT</a:t>
            </a:r>
          </a:p>
          <a:p>
            <a:pPr>
              <a:defRPr sz="850">
                <a:solidFill>
                  <a:srgbClr val="1E293B"/>
                </a:solidFill>
              </a:defRPr>
            </a:pPr>
            <a:r>
              <a:t>Automated visual safety monitoring eliminates human observer fatigue and spot-check blind spots. By alerting safety teams within seconds of sustained gear removal and detecting incipient flames before physical smoke alarms trigger, SafeSync actively mitigates severe workplace casualties.</a:t>
            </a:r>
          </a:p>
        </p:txBody>
      </p:sp>
      <p:sp>
        <p:nvSpPr>
          <p:cNvPr id="9" name="Rounded Rectangle 8"/>
          <p:cNvSpPr/>
          <p:nvPr/>
        </p:nvSpPr>
        <p:spPr>
          <a:xfrm>
            <a:off x="6217920" y="1554480"/>
            <a:ext cx="5212080"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64208"/>
            <a:ext cx="4882896" cy="292608"/>
          </a:xfrm>
          <a:prstGeom prst="rect">
            <a:avLst/>
          </a:prstGeom>
          <a:noFill/>
        </p:spPr>
        <p:txBody>
          <a:bodyPr wrap="square" lIns="0" tIns="0" rIns="0" bIns="0">
            <a:spAutoFit/>
          </a:bodyPr>
          <a:lstStyle/>
          <a:p>
            <a:pPr>
              <a:defRPr sz="1150" b="1">
                <a:solidFill>
                  <a:srgbClr val="1E3A8A"/>
                </a:solidFill>
              </a:defRPr>
            </a:pPr>
            <a:r>
              <a:t>MULTIDIMENSIONAL BENEFITS</a:t>
            </a:r>
          </a:p>
        </p:txBody>
      </p:sp>
      <p:sp>
        <p:nvSpPr>
          <p:cNvPr id="11" name="TextBox 10"/>
          <p:cNvSpPr txBox="1"/>
          <p:nvPr/>
        </p:nvSpPr>
        <p:spPr>
          <a:xfrm>
            <a:off x="6382512" y="1956816"/>
            <a:ext cx="4882896" cy="1874520"/>
          </a:xfrm>
          <a:prstGeom prst="rect">
            <a:avLst/>
          </a:prstGeom>
          <a:noFill/>
        </p:spPr>
        <p:txBody>
          <a:bodyPr wrap="square" lIns="0" tIns="0" rIns="0" bIns="0">
            <a:spAutoFit/>
          </a:bodyPr>
          <a:lstStyle/>
          <a:p/>
          <a:p>
            <a:pPr>
              <a:spcAft>
                <a:spcPts val="250"/>
              </a:spcAft>
            </a:pPr>
            <a:r>
              <a:rPr sz="850" b="1">
                <a:solidFill>
                  <a:srgbClr val="1E3A8A"/>
                </a:solidFill>
              </a:rPr>
              <a:t>• Social Benefits: </a:t>
            </a:r>
            <a:r>
              <a:rPr sz="850">
                <a:solidFill>
                  <a:srgbClr val="1E293B"/>
                </a:solidFill>
              </a:rPr>
              <a:t>Protects human life and worker physical integrity; upholds worker dignity through zero-biometric anonymous tracking.</a:t>
            </a:r>
          </a:p>
          <a:p>
            <a:pPr>
              <a:spcAft>
                <a:spcPts val="250"/>
              </a:spcAft>
            </a:pPr>
            <a:r>
              <a:rPr sz="850" b="1">
                <a:solidFill>
                  <a:srgbClr val="1E3A8A"/>
                </a:solidFill>
              </a:rPr>
              <a:t>• Economic Benefits: </a:t>
            </a:r>
            <a:r>
              <a:rPr sz="850">
                <a:solidFill>
                  <a:srgbClr val="1E293B"/>
                </a:solidFill>
              </a:rPr>
              <a:t>Reduces catastrophic equipment downtime, lowers workers' compensation liabilities, and prevents regulatory fines.</a:t>
            </a:r>
          </a:p>
          <a:p>
            <a:pPr>
              <a:spcAft>
                <a:spcPts val="250"/>
              </a:spcAft>
            </a:pPr>
            <a:r>
              <a:rPr sz="850" b="1">
                <a:solidFill>
                  <a:srgbClr val="1E3A8A"/>
                </a:solidFill>
              </a:rPr>
              <a:t>• Technological Benefits: </a:t>
            </a:r>
            <a:r>
              <a:rPr sz="850">
                <a:solidFill>
                  <a:srgbClr val="1E293B"/>
                </a:solidFill>
              </a:rPr>
              <a:t>Delivers production-grade edge AI execution on commodity CPU hardware with explainable risk scoring.</a:t>
            </a:r>
          </a:p>
          <a:p>
            <a:pPr>
              <a:spcAft>
                <a:spcPts val="250"/>
              </a:spcAft>
            </a:pPr>
            <a:r>
              <a:rPr sz="850" b="1">
                <a:solidFill>
                  <a:srgbClr val="1E3A8A"/>
                </a:solidFill>
              </a:rPr>
              <a:t>• Environmental Benefits: </a:t>
            </a:r>
            <a:r>
              <a:rPr sz="850">
                <a:solidFill>
                  <a:srgbClr val="1E293B"/>
                </a:solidFill>
              </a:rPr>
              <a:t>Rapid flame and smoke plume detection prevents uncontrolled industrial fires and toxic atmospheric emissions.</a:t>
            </a:r>
          </a:p>
        </p:txBody>
      </p:sp>
      <p:sp>
        <p:nvSpPr>
          <p:cNvPr id="12" name="Rounded Rectangle 11"/>
          <p:cNvSpPr/>
          <p:nvPr/>
        </p:nvSpPr>
        <p:spPr>
          <a:xfrm>
            <a:off x="731520" y="4069080"/>
            <a:ext cx="10728655" cy="23774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178808"/>
            <a:ext cx="10399471" cy="292608"/>
          </a:xfrm>
          <a:prstGeom prst="rect">
            <a:avLst/>
          </a:prstGeom>
          <a:noFill/>
        </p:spPr>
        <p:txBody>
          <a:bodyPr wrap="square" lIns="0" tIns="0" rIns="0" bIns="0">
            <a:spAutoFit/>
          </a:bodyPr>
          <a:lstStyle/>
          <a:p>
            <a:pPr>
              <a:defRPr sz="1150" b="1">
                <a:solidFill>
                  <a:srgbClr val="1E3A8A"/>
                </a:solidFill>
              </a:defRPr>
            </a:pPr>
            <a:r>
              <a:t>REAL-WORLD APPLICATIONS &amp; LONG-TERM SCALABILITY</a:t>
            </a:r>
          </a:p>
        </p:txBody>
      </p:sp>
      <p:sp>
        <p:nvSpPr>
          <p:cNvPr id="14" name="TextBox 13"/>
          <p:cNvSpPr txBox="1"/>
          <p:nvPr/>
        </p:nvSpPr>
        <p:spPr>
          <a:xfrm>
            <a:off x="896112" y="4471416"/>
            <a:ext cx="10399471" cy="1920240"/>
          </a:xfrm>
          <a:prstGeom prst="rect">
            <a:avLst/>
          </a:prstGeom>
          <a:noFill/>
        </p:spPr>
        <p:txBody>
          <a:bodyPr wrap="square" lIns="0" tIns="0" rIns="0" bIns="0">
            <a:spAutoFit/>
          </a:bodyPr>
          <a:lstStyle/>
          <a:p/>
          <a:p>
            <a:pPr>
              <a:spcAft>
                <a:spcPts val="250"/>
              </a:spcAft>
              <a:defRPr sz="1000" b="1">
                <a:solidFill>
                  <a:srgbClr val="1E3A8A"/>
                </a:solidFill>
              </a:defRPr>
            </a:pPr>
            <a:r>
              <a:t>HIGH-HAZARD INDUSTRIAL SECTORS</a:t>
            </a:r>
          </a:p>
          <a:p>
            <a:pPr>
              <a:spcAft>
                <a:spcPts val="200"/>
              </a:spcAft>
            </a:pPr>
            <a:r>
              <a:rPr sz="880" b="1">
                <a:solidFill>
                  <a:srgbClr val="1E293B"/>
                </a:solidFill>
              </a:rPr>
              <a:t>• Heavy Manufacturing &amp; Fabrication: </a:t>
            </a:r>
            <a:r>
              <a:rPr sz="880">
                <a:solidFill>
                  <a:srgbClr val="64748B"/>
                </a:solidFill>
              </a:rPr>
              <a:t>Active overhead crane zones, press bays, and CNC machining lines requiring helmets, vests, and fire vigilance.</a:t>
            </a:r>
          </a:p>
          <a:p>
            <a:pPr>
              <a:spcAft>
                <a:spcPts val="200"/>
              </a:spcAft>
            </a:pPr>
            <a:r>
              <a:rPr sz="880" b="1">
                <a:solidFill>
                  <a:srgbClr val="1E293B"/>
                </a:solidFill>
              </a:rPr>
              <a:t>• Construction &amp; Infrastructure Sites: </a:t>
            </a:r>
            <a:r>
              <a:rPr sz="880">
                <a:solidFill>
                  <a:srgbClr val="64748B"/>
                </a:solidFill>
              </a:rPr>
              <a:t>High-traffic perimeter gates, scaffold zones, and heavy earth-moving equipment pathways.</a:t>
            </a:r>
          </a:p>
          <a:p>
            <a:pPr>
              <a:spcAft>
                <a:spcPts val="200"/>
              </a:spcAft>
            </a:pPr>
            <a:r>
              <a:rPr sz="880" b="1">
                <a:solidFill>
                  <a:srgbClr val="1E293B"/>
                </a:solidFill>
              </a:rPr>
              <a:t>• Chemical Processing &amp; Storage Hubs: </a:t>
            </a:r>
            <a:r>
              <a:rPr sz="880">
                <a:solidFill>
                  <a:srgbClr val="64748B"/>
                </a:solidFill>
              </a:rPr>
              <a:t>Volatile liquid storage, hazardous warehousing, and battery charging bays requiring rapid smoke warning.</a:t>
            </a:r>
          </a:p>
          <a:p>
            <a:pPr>
              <a:spcAft>
                <a:spcPts val="200"/>
              </a:spcAft>
            </a:pPr>
            <a:r>
              <a:rPr sz="880" b="1">
                <a:solidFill>
                  <a:srgbClr val="1E293B"/>
                </a:solidFill>
              </a:rPr>
              <a:t>• Metal Smelting &amp; Power Plants: </a:t>
            </a:r>
            <a:r>
              <a:rPr sz="880">
                <a:solidFill>
                  <a:srgbClr val="64748B"/>
                </a:solidFill>
              </a:rPr>
              <a:t>Turbine floors, boiler halls, and electrical sub-stations requiring high-temperature flame monitoring.</a:t>
            </a:r>
          </a:p>
          <a:p>
            <a:pPr>
              <a:spcBef>
                <a:spcPts val="350"/>
              </a:spcBef>
              <a:spcAft>
                <a:spcPts val="150"/>
              </a:spcAft>
              <a:defRPr sz="1000" b="1">
                <a:solidFill>
                  <a:srgbClr val="1E3A8A"/>
                </a:solidFill>
              </a:defRPr>
            </a:pPr>
            <a:r>
              <a:t>LONG-TERM SCALABILITY &amp; EVOLUTION</a:t>
            </a:r>
          </a:p>
          <a:p>
            <a:pPr>
              <a:defRPr sz="880">
                <a:solidFill>
                  <a:srgbClr val="1E293B"/>
                </a:solidFill>
              </a:defRPr>
            </a:pPr>
            <a:r>
              <a:t>SafeSync is built as a modular edge safety platform. By keeping vision inference decoupled from administrative policy, individual plants can scale from a single standalone camera to enterprise-wide distributed networks with centralized cloud reporting and localized edge autonomy.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284C7"/>
                </a:solidFill>
              </a:defRPr>
            </a:pPr>
            <a:r>
              <a:t>BPUT HACKATHON 2026   |   PROBLEM STATEMENT PS06   |   SLIDE 6 OF 6</a:t>
            </a:r>
          </a:p>
        </p:txBody>
      </p:sp>
      <p:sp>
        <p:nvSpPr>
          <p:cNvPr id="3" name="TextBox 2"/>
          <p:cNvSpPr txBox="1"/>
          <p:nvPr/>
        </p:nvSpPr>
        <p:spPr>
          <a:xfrm>
            <a:off x="731520" y="594360"/>
            <a:ext cx="10728655" cy="457200"/>
          </a:xfrm>
          <a:prstGeom prst="rect">
            <a:avLst/>
          </a:prstGeom>
          <a:noFill/>
        </p:spPr>
        <p:txBody>
          <a:bodyPr wrap="square" lIns="0" tIns="0" rIns="0" bIns="0">
            <a:spAutoFit/>
          </a:bodyPr>
          <a:lstStyle/>
          <a:p>
            <a:pPr>
              <a:defRPr sz="2200" b="1">
                <a:solidFill>
                  <a:srgbClr val="0F172A"/>
                </a:solidFill>
              </a:defRPr>
            </a:pPr>
            <a:r>
              <a:t>RESEARCH AND REFERENCES</a:t>
            </a:r>
          </a:p>
        </p:txBody>
      </p:sp>
      <p:sp>
        <p:nvSpPr>
          <p:cNvPr id="4" name="TextBox 3"/>
          <p:cNvSpPr txBox="1"/>
          <p:nvPr/>
        </p:nvSpPr>
        <p:spPr>
          <a:xfrm>
            <a:off x="731520" y="1051560"/>
            <a:ext cx="10728655" cy="274320"/>
          </a:xfrm>
          <a:prstGeom prst="rect">
            <a:avLst/>
          </a:prstGeom>
          <a:noFill/>
        </p:spPr>
        <p:txBody>
          <a:bodyPr wrap="square" lIns="0" tIns="0" rIns="0" bIns="0">
            <a:spAutoFit/>
          </a:bodyPr>
          <a:lstStyle/>
          <a:p>
            <a:pPr>
              <a:defRPr sz="1100">
                <a:solidFill>
                  <a:srgbClr val="64748B"/>
                </a:solidFill>
              </a:defRPr>
            </a:pPr>
            <a:r>
              <a:t>Foundational Research, Verified Datasets, Frameworks &amp; Regulatory Compliance Standards</a:t>
            </a:r>
          </a:p>
        </p:txBody>
      </p:sp>
      <p:sp>
        <p:nvSpPr>
          <p:cNvPr id="5" name="Rectangle 4"/>
          <p:cNvSpPr/>
          <p:nvPr/>
        </p:nvSpPr>
        <p:spPr>
          <a:xfrm>
            <a:off x="731520" y="13716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12080" cy="24231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4882896" cy="292608"/>
          </a:xfrm>
          <a:prstGeom prst="rect">
            <a:avLst/>
          </a:prstGeom>
          <a:noFill/>
        </p:spPr>
        <p:txBody>
          <a:bodyPr wrap="square" lIns="0" tIns="0" rIns="0" bIns="0">
            <a:spAutoFit/>
          </a:bodyPr>
          <a:lstStyle/>
          <a:p>
            <a:pPr>
              <a:defRPr sz="1150" b="1">
                <a:solidFill>
                  <a:srgbClr val="1E3A8A"/>
                </a:solidFill>
              </a:defRPr>
            </a:pPr>
            <a:r>
              <a:t>RESEARCH PAPERS / JOURNALS</a:t>
            </a:r>
          </a:p>
        </p:txBody>
      </p:sp>
      <p:sp>
        <p:nvSpPr>
          <p:cNvPr id="8" name="TextBox 7"/>
          <p:cNvSpPr txBox="1"/>
          <p:nvPr/>
        </p:nvSpPr>
        <p:spPr>
          <a:xfrm>
            <a:off x="896112" y="1956816"/>
            <a:ext cx="4882896" cy="1965960"/>
          </a:xfrm>
          <a:prstGeom prst="rect">
            <a:avLst/>
          </a:prstGeom>
          <a:noFill/>
        </p:spPr>
        <p:txBody>
          <a:bodyPr wrap="square" lIns="0" tIns="0" rIns="0" bIns="0">
            <a:spAutoFit/>
          </a:bodyPr>
          <a:lstStyle/>
          <a:p/>
          <a:p>
            <a:pPr>
              <a:spcAft>
                <a:spcPts val="300"/>
              </a:spcAft>
            </a:pPr>
            <a:r>
              <a:rPr sz="850" b="1">
                <a:solidFill>
                  <a:srgbClr val="1E3A8A"/>
                </a:solidFill>
              </a:rPr>
              <a:t>• Ultralytics YOLOv8 (2023): </a:t>
            </a:r>
            <a:r>
              <a:rPr sz="800">
                <a:solidFill>
                  <a:srgbClr val="1E293B"/>
                </a:solidFill>
              </a:rPr>
              <a:t>Anchor-free neural architecture providing efficient real-time multi-task object detection at the edge.
https://github.com/ultralytics/ultralytics</a:t>
            </a:r>
          </a:p>
          <a:p>
            <a:pPr>
              <a:spcAft>
                <a:spcPts val="300"/>
              </a:spcAft>
            </a:pPr>
            <a:r>
              <a:rPr sz="850" b="1">
                <a:solidFill>
                  <a:srgbClr val="1E3A8A"/>
                </a:solidFill>
              </a:rPr>
              <a:t>• ByteTrack Multi-Object Tracking (ECCV 2022): </a:t>
            </a:r>
            <a:r>
              <a:rPr sz="800">
                <a:solidFill>
                  <a:srgbClr val="1E293B"/>
                </a:solidFill>
              </a:rPr>
              <a:t>Associates both high- and low-confidence detection boxes to maintain robust worker trajectories through occlusions.
https://arxiv.org/abs/2110.06864</a:t>
            </a:r>
          </a:p>
          <a:p>
            <a:pPr>
              <a:spcAft>
                <a:spcPts val="300"/>
              </a:spcAft>
            </a:pPr>
            <a:r>
              <a:rPr sz="850" b="1">
                <a:solidFill>
                  <a:srgbClr val="1E3A8A"/>
                </a:solidFill>
              </a:rPr>
              <a:t>• CPPE-5 Benchmark (CVPR Workshop 2021): </a:t>
            </a:r>
            <a:r>
              <a:rPr sz="800">
                <a:solidFill>
                  <a:srgbClr val="1E293B"/>
                </a:solidFill>
              </a:rPr>
              <a:t>Challenging Personal Protective Equipment Dataset establishing visual multi-class safety evaluation criteria.
https://arxiv.org/abs/2112.07253</a:t>
            </a:r>
          </a:p>
          <a:p>
            <a:pPr>
              <a:spcAft>
                <a:spcPts val="300"/>
              </a:spcAft>
            </a:pPr>
            <a:r>
              <a:rPr sz="850" b="1">
                <a:solidFill>
                  <a:srgbClr val="1E3A8A"/>
                </a:solidFill>
              </a:rPr>
              <a:t>• D-Fire Combustion Dataset (IEEE Access 2022): </a:t>
            </a:r>
            <a:r>
              <a:rPr sz="800">
                <a:solidFill>
                  <a:srgbClr val="1E293B"/>
                </a:solidFill>
              </a:rPr>
              <a:t>Benchmark research for optical flame and smoke detection and boundary localization.
https://github.com/gaia-solutions-on-demand/DFireDataset</a:t>
            </a:r>
          </a:p>
        </p:txBody>
      </p:sp>
      <p:sp>
        <p:nvSpPr>
          <p:cNvPr id="9" name="Rounded Rectangle 8"/>
          <p:cNvSpPr/>
          <p:nvPr/>
        </p:nvSpPr>
        <p:spPr>
          <a:xfrm>
            <a:off x="6217920" y="1554480"/>
            <a:ext cx="5212080" cy="24231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64208"/>
            <a:ext cx="4882896" cy="292608"/>
          </a:xfrm>
          <a:prstGeom prst="rect">
            <a:avLst/>
          </a:prstGeom>
          <a:noFill/>
        </p:spPr>
        <p:txBody>
          <a:bodyPr wrap="square" lIns="0" tIns="0" rIns="0" bIns="0">
            <a:spAutoFit/>
          </a:bodyPr>
          <a:lstStyle/>
          <a:p>
            <a:pPr>
              <a:defRPr sz="1150" b="1">
                <a:solidFill>
                  <a:srgbClr val="1E3A8A"/>
                </a:solidFill>
              </a:defRPr>
            </a:pPr>
            <a:r>
              <a:t>DATASETS (ACTUALLY USED &amp; REFERENCED)</a:t>
            </a:r>
          </a:p>
        </p:txBody>
      </p:sp>
      <p:sp>
        <p:nvSpPr>
          <p:cNvPr id="11" name="TextBox 10"/>
          <p:cNvSpPr txBox="1"/>
          <p:nvPr/>
        </p:nvSpPr>
        <p:spPr>
          <a:xfrm>
            <a:off x="6382512" y="1956816"/>
            <a:ext cx="4882896" cy="1965960"/>
          </a:xfrm>
          <a:prstGeom prst="rect">
            <a:avLst/>
          </a:prstGeom>
          <a:noFill/>
        </p:spPr>
        <p:txBody>
          <a:bodyPr wrap="square" lIns="0" tIns="0" rIns="0" bIns="0">
            <a:spAutoFit/>
          </a:bodyPr>
          <a:lstStyle/>
          <a:p/>
          <a:p>
            <a:pPr>
              <a:spcAft>
                <a:spcPts val="250"/>
              </a:spcAft>
            </a:pPr>
            <a:r>
              <a:rPr sz="850" b="1">
                <a:solidFill>
                  <a:srgbClr val="1E3A8A"/>
                </a:solidFill>
              </a:rPr>
              <a:t>• Pictor Construction Safety [ACTUALLY USED]: </a:t>
            </a:r>
            <a:r>
              <a:rPr sz="800">
                <a:solidFill>
                  <a:srgbClr val="1E293B"/>
                </a:solidFill>
              </a:rPr>
              <a:t>1,487 images of real construction personnel, helmets, and vests.
https://github.com/carlosh93/pictor-ppe</a:t>
            </a:r>
          </a:p>
          <a:p>
            <a:pPr>
              <a:spcAft>
                <a:spcPts val="250"/>
              </a:spcAft>
            </a:pPr>
            <a:r>
              <a:rPr sz="850" b="1">
                <a:solidFill>
                  <a:srgbClr val="1E3A8A"/>
                </a:solidFill>
              </a:rPr>
              <a:t>• Hard Hat Workers [ACTUALLY USED]: </a:t>
            </a:r>
            <a:r>
              <a:rPr sz="800">
                <a:solidFill>
                  <a:srgbClr val="1E293B"/>
                </a:solidFill>
              </a:rPr>
              <a:t>7,035 images covering multi-angle worker headwear and safety vests.
https://public.roboflow.com/object-detection/hard-hat-workers</a:t>
            </a:r>
          </a:p>
          <a:p>
            <a:pPr>
              <a:spcAft>
                <a:spcPts val="250"/>
              </a:spcAft>
            </a:pPr>
            <a:r>
              <a:rPr sz="850" b="1">
                <a:solidFill>
                  <a:srgbClr val="1E3A8A"/>
                </a:solidFill>
              </a:rPr>
              <a:t>• Construction Site Safety [ACTUALLY USED]: </a:t>
            </a:r>
            <a:r>
              <a:rPr sz="800">
                <a:solidFill>
                  <a:srgbClr val="1E293B"/>
                </a:solidFill>
              </a:rPr>
              <a:t>9,451 images covering helmets, vests, gloves, and protective boots.
https://universe.roboflow.com/roboflow-universe-projects/construction-site-safety</a:t>
            </a:r>
          </a:p>
          <a:p>
            <a:pPr>
              <a:spcAft>
                <a:spcPts val="250"/>
              </a:spcAft>
            </a:pPr>
            <a:r>
              <a:rPr sz="850" b="1">
                <a:solidFill>
                  <a:srgbClr val="1E3A8A"/>
                </a:solidFill>
              </a:rPr>
              <a:t>• D-Fire Combustion Dataset [ACTUALLY USED]: </a:t>
            </a:r>
            <a:r>
              <a:rPr sz="800">
                <a:solidFill>
                  <a:srgbClr val="1E293B"/>
                </a:solidFill>
              </a:rPr>
              <a:t>4,480 images of active flames and industrial smoke plumes.
https://github.com/gaia-solutions-on-demand/DFireDataset</a:t>
            </a:r>
          </a:p>
          <a:p>
            <a:pPr>
              <a:spcAft>
                <a:spcPts val="250"/>
              </a:spcAft>
            </a:pPr>
            <a:r>
              <a:rPr sz="850" b="1">
                <a:solidFill>
                  <a:srgbClr val="1E3A8A"/>
                </a:solidFill>
              </a:rPr>
              <a:t>• SH17 &amp; Ultralytics PPE [REFERENCED / EVALUATED]: </a:t>
            </a:r>
            <a:r>
              <a:rPr sz="800">
                <a:solidFill>
                  <a:srgbClr val="1E293B"/>
                </a:solidFill>
              </a:rPr>
              <a:t>Evaluated for benchmark ontology alignment and training hyperparameters.</a:t>
            </a:r>
          </a:p>
        </p:txBody>
      </p:sp>
      <p:sp>
        <p:nvSpPr>
          <p:cNvPr id="12" name="Rounded Rectangle 11"/>
          <p:cNvSpPr/>
          <p:nvPr/>
        </p:nvSpPr>
        <p:spPr>
          <a:xfrm>
            <a:off x="731520" y="4114800"/>
            <a:ext cx="10728655" cy="23317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24528"/>
            <a:ext cx="10399471" cy="292608"/>
          </a:xfrm>
          <a:prstGeom prst="rect">
            <a:avLst/>
          </a:prstGeom>
          <a:noFill/>
        </p:spPr>
        <p:txBody>
          <a:bodyPr wrap="square" lIns="0" tIns="0" rIns="0" bIns="0">
            <a:spAutoFit/>
          </a:bodyPr>
          <a:lstStyle/>
          <a:p>
            <a:pPr>
              <a:defRPr sz="1150" b="1">
                <a:solidFill>
                  <a:srgbClr val="1E3A8A"/>
                </a:solidFill>
              </a:defRPr>
            </a:pPr>
            <a:r>
              <a:t>FRAMEWORKS, OFFICIAL DOCUMENTATION, GITHUB &amp; SAFETY STANDARDS</a:t>
            </a:r>
          </a:p>
        </p:txBody>
      </p:sp>
      <p:sp>
        <p:nvSpPr>
          <p:cNvPr id="14" name="TextBox 13"/>
          <p:cNvSpPr txBox="1"/>
          <p:nvPr/>
        </p:nvSpPr>
        <p:spPr>
          <a:xfrm>
            <a:off x="896112" y="4517136"/>
            <a:ext cx="10399471" cy="1874520"/>
          </a:xfrm>
          <a:prstGeom prst="rect">
            <a:avLst/>
          </a:prstGeom>
          <a:noFill/>
        </p:spPr>
        <p:txBody>
          <a:bodyPr wrap="square" lIns="0" tIns="0" rIns="0" bIns="0">
            <a:spAutoFit/>
          </a:bodyPr>
          <a:lstStyle/>
          <a:p/>
          <a:p>
            <a:pPr>
              <a:spcAft>
                <a:spcPts val="200"/>
              </a:spcAft>
            </a:pPr>
            <a:r>
              <a:rPr sz="850" b="1">
                <a:solidFill>
                  <a:srgbClr val="1E3A8A"/>
                </a:solidFill>
              </a:rPr>
              <a:t>• FastAPI &amp; Uvicorn: </a:t>
            </a:r>
            <a:r>
              <a:rPr sz="800">
                <a:solidFill>
                  <a:srgbClr val="1E293B"/>
                </a:solidFill>
              </a:rPr>
              <a:t>High-concurrency asynchronous Python ASGI web framework and WebSockets. https://fastapi.tiangolo.com</a:t>
            </a:r>
          </a:p>
          <a:p>
            <a:pPr>
              <a:spcAft>
                <a:spcPts val="200"/>
              </a:spcAft>
            </a:pPr>
            <a:r>
              <a:rPr sz="850" b="1">
                <a:solidFill>
                  <a:srgbClr val="1E3A8A"/>
                </a:solidFill>
              </a:rPr>
              <a:t>• React 18 &amp; Vite: </a:t>
            </a:r>
            <a:r>
              <a:rPr sz="800">
                <a:solidFill>
                  <a:srgbClr val="1E293B"/>
                </a:solidFill>
              </a:rPr>
              <a:t>Declarative component-driven frontend architecture with sub-millisecond DOM updates. https://react.dev</a:t>
            </a:r>
          </a:p>
          <a:p>
            <a:pPr>
              <a:spcAft>
                <a:spcPts val="200"/>
              </a:spcAft>
            </a:pPr>
            <a:r>
              <a:rPr sz="850" b="1">
                <a:solidFill>
                  <a:srgbClr val="1E3A8A"/>
                </a:solidFill>
              </a:rPr>
              <a:t>• SQLite WAL Engine: </a:t>
            </a:r>
            <a:r>
              <a:rPr sz="800">
                <a:solidFill>
                  <a:srgbClr val="1E293B"/>
                </a:solidFill>
              </a:rPr>
              <a:t>ACID-compliant relational persistence operating under Write-Ahead Logging. https://sqlite.org/wal.html</a:t>
            </a:r>
          </a:p>
          <a:p>
            <a:pPr>
              <a:spcAft>
                <a:spcPts val="200"/>
              </a:spcAft>
            </a:pPr>
            <a:r>
              <a:rPr sz="850" b="1">
                <a:solidFill>
                  <a:srgbClr val="1E3A8A"/>
                </a:solidFill>
              </a:rPr>
              <a:t>• Official GitHub Repository: </a:t>
            </a:r>
            <a:r>
              <a:rPr sz="800">
                <a:solidFill>
                  <a:srgbClr val="1E293B"/>
                </a:solidFill>
              </a:rPr>
              <a:t>https://github.com/SMRU08/SafeSync.git (Live codebase, models &amp; test suites)</a:t>
            </a:r>
          </a:p>
          <a:p>
            <a:pPr>
              <a:spcAft>
                <a:spcPts val="200"/>
              </a:spcAft>
            </a:pPr>
            <a:r>
              <a:rPr sz="850" b="1">
                <a:solidFill>
                  <a:srgbClr val="1E3A8A"/>
                </a:solidFill>
              </a:rPr>
              <a:t>• OSHA Standards: </a:t>
            </a:r>
            <a:r>
              <a:rPr sz="800">
                <a:solidFill>
                  <a:srgbClr val="1E293B"/>
                </a:solidFill>
              </a:rPr>
              <a:t>29 CFR 1926.100 (Head Protection) &amp; 1926.95 (Personal Protective Equipment). https://www.osha.gov</a:t>
            </a:r>
          </a:p>
          <a:p>
            <a:pPr>
              <a:spcAft>
                <a:spcPts val="200"/>
              </a:spcAft>
            </a:pPr>
            <a:r>
              <a:rPr sz="850" b="1">
                <a:solidFill>
                  <a:srgbClr val="1E3A8A"/>
                </a:solidFill>
              </a:rPr>
              <a:t>• ISO 45001:2018: </a:t>
            </a:r>
            <a:r>
              <a:rPr sz="800">
                <a:solidFill>
                  <a:srgbClr val="1E293B"/>
                </a:solidFill>
              </a:rPr>
              <a:t>Occupational Health and Safety Management Systems Standard requirements. https://www.iso.org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