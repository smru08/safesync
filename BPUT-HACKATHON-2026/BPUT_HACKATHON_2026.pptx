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imes New Roman Bold" charset="1" panose="02020803070505020304"/>
      <p:regular r:id="rId15"/>
    </p:embeddedFont>
    <p:embeddedFont>
      <p:font typeface="Open Sauce" charset="1" panose="00000500000000000000"/>
      <p:regular r:id="rId16"/>
    </p:embeddedFont>
    <p:embeddedFont>
      <p:font typeface="Archivo Black" charset="1" panose="020B0A03020202020B04"/>
      <p:regular r:id="rId17"/>
    </p:embeddedFont>
    <p:embeddedFont>
      <p:font typeface="Arimo Bold" charset="1" panose="020B0704020202020204"/>
      <p:regular r:id="rId18"/>
    </p:embeddedFont>
    <p:embeddedFont>
      <p:font typeface="Garamond Italics" charset="1" panose="02020404030301010803"/>
      <p:regular r:id="rId19"/>
    </p:embeddedFont>
    <p:embeddedFont>
      <p:font typeface="Canva Sans 1" charset="1" panose="020B0503030501040103"/>
      <p:regular r:id="rId20"/>
    </p:embeddedFont>
    <p:embeddedFont>
      <p:font typeface="Canva Sans 1 Bold" charset="1" panose="020B0803030501040103"/>
      <p:regular r:id="rId21"/>
    </p:embeddedFont>
    <p:embeddedFont>
      <p:font typeface="Comic Sans Bold" charset="1" panose="03000902030302020204"/>
      <p:regular r:id="rId22"/>
    </p:embeddedFont>
    <p:embeddedFont>
      <p:font typeface="Anton" charset="1" panose="00000500000000000000"/>
      <p:regular r:id="rId23"/>
    </p:embeddedFont>
    <p:embeddedFont>
      <p:font typeface="Gagalin" charset="1" panose="00000500000000000000"/>
      <p:regular r:id="rId24"/>
    </p:embeddedFont>
    <p:embeddedFont>
      <p:font typeface="Poppins Bold" charset="1" panose="00000800000000000000"/>
      <p:regular r:id="rId25"/>
    </p:embeddedFont>
    <p:embeddedFont>
      <p:font typeface="Canva Sans 2" charset="1" panose="020B0503030501040103"/>
      <p:regular r:id="rId26"/>
    </p:embeddedFont>
    <p:embeddedFont>
      <p:font typeface="Canva Sans 2 Bold" charset="1" panose="020B0803030501040103"/>
      <p:regular r:id="rId27"/>
    </p:embeddedFont>
    <p:embeddedFont>
      <p:font typeface="Open Sauce Bold" charset="1" panose="00000800000000000000"/>
      <p:regular r:id="rId28"/>
    </p:embeddedFont>
    <p:embeddedFont>
      <p:font typeface="League Spartan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5" Type="http://schemas.openxmlformats.org/officeDocument/2006/relationships/image" Target="../media/image2.jpe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178" r="0" b="-471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6929" y="-804424"/>
            <a:ext cx="15544800" cy="3128962"/>
            <a:chOff x="0" y="0"/>
            <a:chExt cx="20726400" cy="4171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71950"/>
                  </a:lnTo>
                  <a:lnTo>
                    <a:pt x="0" y="4171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802" r="0" b="-4680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726400" cy="4191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BPUT HACKATHON 2026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39" r="0" b="-823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5313" y="3876227"/>
            <a:ext cx="11675050" cy="486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8297" indent="-276099" lvl="2">
              <a:lnSpc>
                <a:spcPts val="5508"/>
              </a:lnSpc>
              <a:buFont typeface="Arial"/>
              <a:buChar char="⚬"/>
            </a:pPr>
            <a:r>
              <a:rPr lang="en-US" b="true" sz="362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Statement: </a:t>
            </a:r>
            <a:r>
              <a:rPr lang="en-US" sz="36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PS06</a:t>
            </a:r>
          </a:p>
          <a:p>
            <a:pPr algn="l" marL="827533" indent="-275844" lvl="2">
              <a:lnSpc>
                <a:spcPts val="5502"/>
              </a:lnSpc>
              <a:buFont typeface="Arial"/>
              <a:buChar char="⚬"/>
            </a:pPr>
            <a:r>
              <a:rPr lang="en-US" b="true" sz="36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Title: </a:t>
            </a:r>
            <a:r>
              <a:rPr lang="en-US" sz="36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Real-Time Industrial Workplace Safety Monitoring, 4-Point PPE Compliance, and Optical Fire/Smoke Detection</a:t>
            </a:r>
          </a:p>
          <a:p>
            <a:pPr algn="l" marL="827533" indent="-275844" lvl="2">
              <a:lnSpc>
                <a:spcPts val="5503"/>
              </a:lnSpc>
              <a:buFont typeface="Arial"/>
              <a:buChar char="⚬"/>
            </a:pPr>
            <a:r>
              <a:rPr lang="en-US" b="true" sz="36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Theme:</a:t>
            </a:r>
            <a:r>
              <a:rPr lang="en-US" sz="36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Smart Automation </a:t>
            </a:r>
          </a:p>
          <a:p>
            <a:pPr algn="just" marL="764722" indent="-254907" lvl="2">
              <a:lnSpc>
                <a:spcPts val="5506"/>
              </a:lnSpc>
              <a:buFont typeface="Arial"/>
              <a:buChar char="⚬"/>
            </a:pPr>
            <a:r>
              <a:rPr lang="en-US" b="true" sz="362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Category: </a:t>
            </a:r>
            <a:r>
              <a:rPr lang="en-US" sz="36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764722" indent="-254907" lvl="2">
              <a:lnSpc>
                <a:spcPts val="5506"/>
              </a:lnSpc>
              <a:buFont typeface="Arial"/>
              <a:buChar char="⚬"/>
            </a:pPr>
            <a:r>
              <a:rPr lang="en-US" b="true" sz="362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ID: </a:t>
            </a:r>
            <a:r>
              <a:rPr lang="en-US" sz="36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BH26PS06T049</a:t>
            </a:r>
          </a:p>
          <a:p>
            <a:pPr algn="just" marL="764722" indent="-254907" lvl="2">
              <a:lnSpc>
                <a:spcPts val="5506"/>
              </a:lnSpc>
              <a:buFont typeface="Arial"/>
              <a:buChar char="⚬"/>
            </a:pPr>
            <a:r>
              <a:rPr lang="en-US" b="true" sz="362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Name: </a:t>
            </a:r>
            <a:r>
              <a:rPr lang="en-US" sz="362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XERSES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929" y="1498864"/>
            <a:ext cx="10269455" cy="162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SAFESYNC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6178" y="3074933"/>
            <a:ext cx="10585980" cy="42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4"/>
              </a:lnSpc>
            </a:pPr>
            <a:r>
              <a:rPr lang="en-US" sz="25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5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ndustrial AI Safety &amp; Hazard Monitoring System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99134" y="171450"/>
            <a:ext cx="1459133" cy="1430398"/>
          </a:xfrm>
          <a:custGeom>
            <a:avLst/>
            <a:gdLst/>
            <a:ahLst/>
            <a:cxnLst/>
            <a:rect r="r" b="b" t="t" l="l"/>
            <a:pathLst>
              <a:path h="1430398" w="1459133">
                <a:moveTo>
                  <a:pt x="0" y="0"/>
                </a:moveTo>
                <a:lnTo>
                  <a:pt x="1459132" y="0"/>
                </a:lnTo>
                <a:lnTo>
                  <a:pt x="1459132" y="1430398"/>
                </a:lnTo>
                <a:lnTo>
                  <a:pt x="0" y="1430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04" r="0" b="-100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17326" y="-627345"/>
            <a:ext cx="8942022" cy="2074164"/>
            <a:chOff x="0" y="0"/>
            <a:chExt cx="11922696" cy="2765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22633" cy="2765552"/>
            </a:xfrm>
            <a:custGeom>
              <a:avLst/>
              <a:gdLst/>
              <a:ahLst/>
              <a:cxnLst/>
              <a:rect r="r" b="b" t="t" l="l"/>
              <a:pathLst>
                <a:path h="2765552" w="11922633">
                  <a:moveTo>
                    <a:pt x="0" y="0"/>
                  </a:moveTo>
                  <a:lnTo>
                    <a:pt x="11922633" y="0"/>
                  </a:lnTo>
                  <a:lnTo>
                    <a:pt x="11922633" y="2765552"/>
                  </a:lnTo>
                  <a:lnTo>
                    <a:pt x="0" y="2765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4" r="0" b="-3394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17327" y="-634727"/>
            <a:ext cx="8942022" cy="2081547"/>
            <a:chOff x="0" y="0"/>
            <a:chExt cx="11922696" cy="27753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22691" cy="2775397"/>
            </a:xfrm>
            <a:custGeom>
              <a:avLst/>
              <a:gdLst/>
              <a:ahLst/>
              <a:cxnLst/>
              <a:rect r="r" b="b" t="t" l="l"/>
              <a:pathLst>
                <a:path h="2775397" w="11922691">
                  <a:moveTo>
                    <a:pt x="0" y="0"/>
                  </a:moveTo>
                  <a:lnTo>
                    <a:pt x="11922691" y="0"/>
                  </a:lnTo>
                  <a:lnTo>
                    <a:pt x="11922691" y="2775397"/>
                  </a:lnTo>
                  <a:lnTo>
                    <a:pt x="0" y="27753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704" r="0" b="-3370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1922696" cy="27849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198"/>
                </a:lnSpc>
              </a:pPr>
              <a:r>
                <a:rPr lang="en-US" sz="5999">
                  <a:solidFill>
                    <a:srgbClr val="00000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SAFESYNC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39" r="0" b="-823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416771" y="9602549"/>
            <a:ext cx="13143133" cy="54737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>
              <a:lnSpc>
                <a:spcPts val="4480"/>
              </a:lnSpc>
              <a:spcAft>
                <a:spcPts val="0"/>
              </a:spcAft>
              <a:buNone/>
            </a:pPr>
            <a:r>
              <a:rPr sz="3750" b="0">
                <a:solidFill>
                  <a:srgbClr val="FFFFFF"/>
                </a:solidFill>
              </a:rPr>
              <a:t>“Smart Vision. Safe Workers. Faster Response.”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57200" y="2331720"/>
            <a:ext cx="8412480" cy="70408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 lvl="2">
              <a:lnSpc>
                <a:spcPts val="2960"/>
              </a:lnSpc>
              <a:spcAft>
                <a:spcPts val="750"/>
              </a:spcAft>
              <a:buFont typeface="Arial"/>
              <a:buNone/>
            </a:pPr>
            <a:r>
              <a:rPr sz="2375" b="1">
                <a:solidFill>
                  <a:srgbClr val="0070C0"/>
                </a:solidFill>
              </a:rPr>
              <a:t>Detailed explanation of the proposed solution</a:t>
            </a:r>
          </a:p>
          <a:p>
            <a:pPr algn="l" marL="0" indent="0">
              <a:spcAft>
                <a:spcPts val="1500"/>
              </a:spcAft>
              <a:buNone/>
            </a:pPr>
            <a:r>
              <a:rPr sz="2000" b="0">
                <a:solidFill>
                  <a:srgbClr val="1F1F1F"/>
                </a:solidFill>
              </a:rPr>
              <a:t>SafeSync is an AI vision platform that analyses existing CCTV and video streams to check 4-point PPE compliance (helmet, high-vis vest, gloves, safety footwear) and to detect fire and smoke in real time. It runs locally on a standard CPU.</a:t>
            </a:r>
          </a:p>
          <a:p>
            <a:pPr algn="l" marL="0" indent="0">
              <a:spcAft>
                <a:spcPts val="750"/>
              </a:spcAft>
              <a:buNone/>
            </a:pPr>
            <a:r>
              <a:rPr sz="2375" b="1">
                <a:solidFill>
                  <a:srgbClr val="0070C0"/>
                </a:solidFill>
              </a:rPr>
              <a:t>How it addresses the problem</a:t>
            </a:r>
          </a:p>
          <a:p>
            <a:pPr algn="l" marL="0" indent="0">
              <a:spcAft>
                <a:spcPts val="1500"/>
              </a:spcAft>
              <a:buNone/>
            </a:pPr>
            <a:r>
              <a:rPr sz="2000" b="0">
                <a:solidFill>
                  <a:srgbClr val="1F1F1F"/>
                </a:solidFill>
              </a:rPr>
              <a:t>Replaces periodic manual inspection with continuous monitoring. A confirmed violation or fire/smoke event becomes an incident with an alarm, saved evidence image and a live dashboard entry.</a:t>
            </a:r>
          </a:p>
          <a:p>
            <a:pPr algn="l" marL="0" indent="0">
              <a:spcAft>
                <a:spcPts val="750"/>
              </a:spcAft>
              <a:buNone/>
            </a:pPr>
            <a:r>
              <a:rPr sz="2375" b="1">
                <a:solidFill>
                  <a:srgbClr val="0070C0"/>
                </a:solidFill>
              </a:rPr>
              <a:t>Innovation and uniqueness of the solution</a:t>
            </a:r>
          </a:p>
          <a:p>
            <a:pPr algn="l" marL="0" indent="0">
              <a:spcAft>
                <a:spcPts val="625"/>
              </a:spcAft>
              <a:buNone/>
            </a:pPr>
            <a:r>
              <a:rPr sz="2000" b="1">
                <a:solidFill>
                  <a:srgbClr val="0070C0"/>
                </a:solidFill>
              </a:rPr>
              <a:t>▪ </a:t>
            </a:r>
            <a:r>
              <a:rPr sz="2000" b="1">
                <a:solidFill>
                  <a:srgbClr val="1F1F1F"/>
                </a:solidFill>
              </a:rPr>
              <a:t>Worker-level PPE association: </a:t>
            </a:r>
            <a:r>
              <a:rPr sz="2000" b="0">
                <a:solidFill>
                  <a:srgbClr val="1F1F1F"/>
                </a:solidFill>
              </a:rPr>
              <a:t>gear is matched to each tracked worker, not just counted in the frame.</a:t>
            </a:r>
          </a:p>
          <a:p>
            <a:pPr algn="l" marL="0" indent="0">
              <a:spcAft>
                <a:spcPts val="625"/>
              </a:spcAft>
              <a:buNone/>
            </a:pPr>
            <a:r>
              <a:rPr sz="2000" b="1">
                <a:solidFill>
                  <a:srgbClr val="0070C0"/>
                </a:solidFill>
              </a:rPr>
              <a:t>▪ </a:t>
            </a:r>
            <a:r>
              <a:rPr sz="2000" b="1">
                <a:solidFill>
                  <a:srgbClr val="1F1F1F"/>
                </a:solidFill>
              </a:rPr>
              <a:t>UNKNOWN state: </a:t>
            </a:r>
            <a:r>
              <a:rPr sz="2000" b="0">
                <a:solidFill>
                  <a:srgbClr val="1F1F1F"/>
                </a:solidFill>
              </a:rPr>
              <a:t>only confirmed missing PPE raises a violation, so unclear frames never trigger false alarms.</a:t>
            </a:r>
          </a:p>
          <a:p>
            <a:pPr algn="l" marL="0" indent="0">
              <a:spcAft>
                <a:spcPts val="625"/>
              </a:spcAft>
              <a:buNone/>
            </a:pPr>
            <a:r>
              <a:rPr sz="2000" b="1">
                <a:solidFill>
                  <a:srgbClr val="0070C0"/>
                </a:solidFill>
              </a:rPr>
              <a:t>▪ </a:t>
            </a:r>
            <a:r>
              <a:rPr sz="2000" b="1">
                <a:solidFill>
                  <a:srgbClr val="1F1F1F"/>
                </a:solidFill>
              </a:rPr>
              <a:t>Temporal validation: </a:t>
            </a:r>
            <a:r>
              <a:rPr sz="2000" b="0">
                <a:solidFill>
                  <a:srgbClr val="1F1F1F"/>
                </a:solidFill>
              </a:rPr>
              <a:t>events need 3 (PPE) or 5 (fire, smoke) consecutive confirmed frames.</a:t>
            </a:r>
          </a:p>
          <a:p>
            <a:pPr algn="l" marL="0" indent="0">
              <a:spcAft>
                <a:spcPts val="625"/>
              </a:spcAft>
              <a:buNone/>
            </a:pPr>
            <a:r>
              <a:rPr sz="2000" b="1">
                <a:solidFill>
                  <a:srgbClr val="0070C0"/>
                </a:solidFill>
              </a:rPr>
              <a:t>▪ </a:t>
            </a:r>
            <a:r>
              <a:rPr sz="2000" b="1">
                <a:solidFill>
                  <a:srgbClr val="1F1F1F"/>
                </a:solidFill>
              </a:rPr>
              <a:t>Fire/smoke state machine </a:t>
            </a:r>
            <a:r>
              <a:rPr sz="2000" b="0">
                <a:solidFill>
                  <a:srgbClr val="1F1F1F"/>
                </a:solidFill>
              </a:rPr>
              <a:t>with P0–P3 priorities and a deterministic 0–100 risk score.</a:t>
            </a:r>
          </a:p>
          <a:p>
            <a:pPr algn="l" marL="0" indent="0">
              <a:spcAft>
                <a:spcPts val="625"/>
              </a:spcAft>
              <a:buNone/>
            </a:pPr>
            <a:r>
              <a:rPr sz="2000" b="1">
                <a:solidFill>
                  <a:srgbClr val="0070C0"/>
                </a:solidFill>
              </a:rPr>
              <a:t>▪ </a:t>
            </a:r>
            <a:r>
              <a:rPr sz="2000" b="1">
                <a:solidFill>
                  <a:srgbClr val="1F1F1F"/>
                </a:solidFill>
              </a:rPr>
              <a:t>Incident lifecycle, </a:t>
            </a:r>
            <a:r>
              <a:rPr sz="2000" b="0">
                <a:solidFill>
                  <a:srgbClr val="1F1F1F"/>
                </a:solidFill>
              </a:rPr>
              <a:t>evidence capture and system health monitoring.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078" y="1839516"/>
            <a:ext cx="5610901" cy="44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313" b="true">
                <a:solidFill>
                  <a:srgbClr val="000000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PROPOSED SOLUTION :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99134" y="171450"/>
            <a:ext cx="1459133" cy="1430398"/>
          </a:xfrm>
          <a:custGeom>
            <a:avLst/>
            <a:gdLst/>
            <a:ahLst/>
            <a:cxnLst/>
            <a:rect r="r" b="b" t="t" l="l"/>
            <a:pathLst>
              <a:path h="1430398" w="1459133">
                <a:moveTo>
                  <a:pt x="0" y="0"/>
                </a:moveTo>
                <a:lnTo>
                  <a:pt x="1459132" y="0"/>
                </a:lnTo>
                <a:lnTo>
                  <a:pt x="1459132" y="1430398"/>
                </a:lnTo>
                <a:lnTo>
                  <a:pt x="0" y="1430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04" r="0" b="-1004"/>
            </a:stretch>
          </a:blipFill>
        </p:spPr>
      </p:sp>
      <p:pic>
        <p:nvPicPr>
          <p:cNvPr id="22" name="Picture 21" descr="6556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240280"/>
            <a:ext cx="8412480" cy="47320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26880" y="7022592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625" b="0">
                <a:solidFill>
                  <a:srgbClr val="595959"/>
                </a:solidFill>
              </a:rPr>
              <a:t>Live prototype: fire/smoke detection on a test feed (demonstration evidence only)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7498079"/>
            <a:ext cx="1956816" cy="16916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7680960"/>
            <a:ext cx="1956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3000" b="1">
                <a:solidFill>
                  <a:srgbClr val="E8590C"/>
                </a:solidFill>
              </a:rPr>
              <a:t>56.4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8366760"/>
            <a:ext cx="177393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500" b="0">
                <a:solidFill>
                  <a:srgbClr val="595959"/>
                </a:solidFill>
              </a:rPr>
              <a:t>Mean YOLOv8n inference (CPU)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57432" y="7498079"/>
            <a:ext cx="1956816" cy="16916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57432" y="7680960"/>
            <a:ext cx="1956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3000" b="1">
                <a:solidFill>
                  <a:srgbClr val="1F3A5F"/>
                </a:solidFill>
              </a:rPr>
              <a:t>≈17.7 FPS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8872" y="8366760"/>
            <a:ext cx="177393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500" b="0">
                <a:solidFill>
                  <a:srgbClr val="595959"/>
                </a:solidFill>
              </a:rPr>
              <a:t>Processing rate, Intel i5-13420H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87984" y="7498079"/>
            <a:ext cx="1956816" cy="16916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587984" y="7680960"/>
            <a:ext cx="1956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3000" b="1">
                <a:solidFill>
                  <a:srgbClr val="1F3A5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679424" y="8366760"/>
            <a:ext cx="177393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500" b="0">
                <a:solidFill>
                  <a:srgbClr val="595959"/>
                </a:solidFill>
              </a:rPr>
              <a:t>Detection classes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718535" y="7498079"/>
            <a:ext cx="1956816" cy="1691640"/>
          </a:xfrm>
          <a:prstGeom prst="roundRect">
            <a:avLst>
              <a:gd name="adj" fmla="val 8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718535" y="7680960"/>
            <a:ext cx="1956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3000" b="1">
                <a:solidFill>
                  <a:srgbClr val="1F3A5F"/>
                </a:solidFill>
              </a:rPr>
              <a:t>309 / 309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809976" y="8366760"/>
            <a:ext cx="177393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spcAft>
                <a:spcPts val="0"/>
              </a:spcAft>
              <a:buNone/>
            </a:pPr>
            <a:r>
              <a:rPr sz="1500" b="0">
                <a:solidFill>
                  <a:srgbClr val="595959"/>
                </a:solidFill>
              </a:rPr>
              <a:t>Unit, integration &amp; E2E tests passed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0" y="-241554"/>
            <a:ext cx="15240000" cy="2081108"/>
            <a:chOff x="0" y="0"/>
            <a:chExt cx="20320000" cy="2774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00" cy="2774823"/>
            </a:xfrm>
            <a:custGeom>
              <a:avLst/>
              <a:gdLst/>
              <a:ahLst/>
              <a:cxnLst/>
              <a:rect r="r" b="b" t="t" l="l"/>
              <a:pathLst>
                <a:path h="2774823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2774823"/>
                  </a:lnTo>
                  <a:lnTo>
                    <a:pt x="0" y="277482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589" r="0" b="-9258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0" y="-267567"/>
            <a:ext cx="15240000" cy="2107120"/>
            <a:chOff x="0" y="0"/>
            <a:chExt cx="20320000" cy="28094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0000" cy="2809497"/>
            </a:xfrm>
            <a:custGeom>
              <a:avLst/>
              <a:gdLst/>
              <a:ahLst/>
              <a:cxnLst/>
              <a:rect r="r" b="b" t="t" l="l"/>
              <a:pathLst>
                <a:path h="2809497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2809497"/>
                  </a:lnTo>
                  <a:lnTo>
                    <a:pt x="0" y="28094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927" r="0" b="-9092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320000" cy="2838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318"/>
                </a:lnSpc>
              </a:pPr>
              <a:r>
                <a:rPr lang="en-US" sz="6098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75272" y="2248"/>
            <a:ext cx="3069650" cy="1449448"/>
            <a:chOff x="0" y="0"/>
            <a:chExt cx="4092867" cy="19325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92829" cy="1932559"/>
            </a:xfrm>
            <a:custGeom>
              <a:avLst/>
              <a:gdLst/>
              <a:ahLst/>
              <a:cxnLst/>
              <a:rect r="r" b="b" t="t" l="l"/>
              <a:pathLst>
                <a:path h="1932559" w="4092829">
                  <a:moveTo>
                    <a:pt x="0" y="0"/>
                  </a:moveTo>
                  <a:lnTo>
                    <a:pt x="4092829" y="0"/>
                  </a:lnTo>
                  <a:lnTo>
                    <a:pt x="4092829" y="1932559"/>
                  </a:lnTo>
                  <a:lnTo>
                    <a:pt x="0" y="1932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40" r="0" b="-824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57200" y="1920240"/>
            <a:ext cx="9144000" cy="7498079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>
              <a:lnSpc>
                <a:spcPts val="3062"/>
              </a:lnSpc>
              <a:spcAft>
                <a:spcPts val="750"/>
              </a:spcAft>
              <a:buNone/>
            </a:pPr>
            <a:r>
              <a:rPr sz="2375" b="1">
                <a:solidFill>
                  <a:srgbClr val="0070C0"/>
                </a:solidFill>
              </a:rPr>
              <a:t>Technologies used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Languages: </a:t>
            </a:r>
            <a:r>
              <a:rPr sz="1875" b="0">
                <a:solidFill>
                  <a:srgbClr val="1F1F1F"/>
                </a:solidFill>
              </a:rPr>
              <a:t>Python 3.13, TypeScript, SQL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Backend / APIs: </a:t>
            </a:r>
            <a:r>
              <a:rPr sz="1875" b="0">
                <a:solidFill>
                  <a:srgbClr val="1F1F1F"/>
                </a:solidFill>
              </a:rPr>
              <a:t>FastAPI, async REST, WebSockets, Prometheus metrics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Frontend: </a:t>
            </a:r>
            <a:r>
              <a:rPr sz="1875" b="0">
                <a:solidFill>
                  <a:srgbClr val="1F1F1F"/>
                </a:solidFill>
              </a:rPr>
              <a:t>React 18, Vite 6, Tailwind CSS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AI / CV: </a:t>
            </a:r>
            <a:r>
              <a:rPr sz="1875" b="0">
                <a:solidFill>
                  <a:srgbClr val="1F1F1F"/>
                </a:solidFill>
              </a:rPr>
              <a:t>PyTorch (CPU), YOLOv8n at 384×384, OpenCV, ByteTrack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Database: </a:t>
            </a:r>
            <a:r>
              <a:rPr sz="1875" b="0">
                <a:solidFill>
                  <a:srgbClr val="1F1F1F"/>
                </a:solidFill>
              </a:rPr>
              <a:t>SQLite (WAL mode)</a:t>
            </a:r>
          </a:p>
          <a:p>
            <a:pPr algn="l" marL="0" indent="0">
              <a:spcAft>
                <a:spcPts val="1250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Sources / hardware: </a:t>
            </a:r>
            <a:r>
              <a:rPr sz="1875" b="0">
                <a:solidFill>
                  <a:srgbClr val="1F1F1F"/>
                </a:solidFill>
              </a:rPr>
              <a:t>USB and IP cameras, video files, RTSP (partial); Intel Core i5-13420H, 16 GB RAM, CPU only</a:t>
            </a:r>
          </a:p>
          <a:p>
            <a:pPr algn="l" marL="0" indent="0">
              <a:spcAft>
                <a:spcPts val="750"/>
              </a:spcAft>
              <a:buNone/>
            </a:pPr>
            <a:r>
              <a:rPr sz="2375" b="1">
                <a:solidFill>
                  <a:srgbClr val="0070C0"/>
                </a:solidFill>
              </a:rPr>
              <a:t>Methodology and process for implementation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1 Ingest: </a:t>
            </a:r>
            <a:r>
              <a:rPr sz="1875" b="0">
                <a:solidFill>
                  <a:srgbClr val="1F1F1F"/>
                </a:solidFill>
              </a:rPr>
              <a:t>thread-isolated capture, queue depth 1 (latest frame wins)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2 Detect: </a:t>
            </a:r>
            <a:r>
              <a:rPr sz="1875" b="0">
                <a:solidFill>
                  <a:srgbClr val="1F1F1F"/>
                </a:solidFill>
              </a:rPr>
              <a:t>single-pass YOLOv8n, 7 classes (person, helmet, vest, gloves, footwear, fire, smoke)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3 Track: </a:t>
            </a:r>
            <a:r>
              <a:rPr sz="1875" b="0">
                <a:solidFill>
                  <a:srgbClr val="1F1F1F"/>
                </a:solidFill>
              </a:rPr>
              <a:t>ByteTrack gives each worker a persistent ID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4 Associate: </a:t>
            </a:r>
            <a:r>
              <a:rPr sz="1875" b="0">
                <a:solidFill>
                  <a:srgbClr val="1F1F1F"/>
                </a:solidFill>
              </a:rPr>
              <a:t>PPE mapped to each worker’s head, torso, hands and feet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5 Validate: </a:t>
            </a:r>
            <a:r>
              <a:rPr sz="1875" b="0">
                <a:solidFill>
                  <a:srgbClr val="1F1F1F"/>
                </a:solidFill>
              </a:rPr>
              <a:t>3 confirmed frames (PPE) or 5 (fire, smoke) before an event fires</a:t>
            </a:r>
          </a:p>
          <a:p>
            <a:pPr algn="l" marL="0" indent="0">
              <a:spcAft>
                <a:spcPts val="1250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6 Alert: </a:t>
            </a:r>
            <a:r>
              <a:rPr sz="1875" b="0">
                <a:solidFill>
                  <a:srgbClr val="1F1F1F"/>
                </a:solidFill>
              </a:rPr>
              <a:t>0–100 risk score, incident created, alert pushed via WebSocket</a:t>
            </a:r>
          </a:p>
          <a:p>
            <a:pPr algn="l" marL="0" indent="0">
              <a:spcAft>
                <a:spcPts val="375"/>
              </a:spcAft>
              <a:buNone/>
            </a:pPr>
            <a:r>
              <a:rPr sz="2375" b="1">
                <a:solidFill>
                  <a:srgbClr val="E8590C"/>
                </a:solidFill>
              </a:rPr>
              <a:t>Measured on CPU (Intel i5-13420H)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875" b="0">
                <a:solidFill>
                  <a:srgbClr val="1F1F1F"/>
                </a:solidFill>
              </a:rPr>
              <a:t>56.4 ms mean inference (≈17.7 FPS). 250 unit, 39 integration and 20 E2E recovery tests pass.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16771" y="9602549"/>
            <a:ext cx="13143133" cy="54737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>
              <a:lnSpc>
                <a:spcPts val="4480"/>
              </a:lnSpc>
              <a:spcAft>
                <a:spcPts val="0"/>
              </a:spcAft>
              <a:buNone/>
            </a:pPr>
            <a:r>
              <a:rPr sz="3750" b="0">
                <a:solidFill>
                  <a:srgbClr val="FFFFFF"/>
                </a:solidFill>
              </a:rPr>
              <a:t>“See in Real-Time. Act in Seconds. Prevent the Hazard.”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99134" y="171450"/>
            <a:ext cx="1459133" cy="1430398"/>
          </a:xfrm>
          <a:custGeom>
            <a:avLst/>
            <a:gdLst/>
            <a:ahLst/>
            <a:cxnLst/>
            <a:rect r="r" b="b" t="t" l="l"/>
            <a:pathLst>
              <a:path h="1430398" w="1459133">
                <a:moveTo>
                  <a:pt x="0" y="0"/>
                </a:moveTo>
                <a:lnTo>
                  <a:pt x="1459132" y="0"/>
                </a:lnTo>
                <a:lnTo>
                  <a:pt x="1459132" y="1430398"/>
                </a:lnTo>
                <a:lnTo>
                  <a:pt x="0" y="1430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004" r="0" b="-1004"/>
            </a:stretch>
          </a:blipFill>
        </p:spPr>
      </p:sp>
      <p:sp>
        <p:nvSpPr>
          <p:cNvPr id="20" name="Rounded Rectangle 19"/>
          <p:cNvSpPr/>
          <p:nvPr/>
        </p:nvSpPr>
        <p:spPr>
          <a:xfrm>
            <a:off x="9966960" y="2148840"/>
            <a:ext cx="8046720" cy="109728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2240280"/>
            <a:ext cx="7680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419"/>
              </a:spcAft>
              <a:buNone/>
            </a:pPr>
            <a:r>
              <a:rPr sz="2520" b="1">
                <a:solidFill>
                  <a:srgbClr val="FFFFFF"/>
                </a:solidFill>
              </a:rPr>
              <a:t>Tier 1: Presentation Layer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889" b="0">
                <a:solidFill>
                  <a:srgbClr val="E6ECF5"/>
                </a:solidFill>
              </a:rPr>
              <a:t>React dashboard, live video, incident log, WebSocket alerts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3624560" y="3264408"/>
            <a:ext cx="731520" cy="292608"/>
          </a:xfrm>
          <a:prstGeom prst="downArrow">
            <a:avLst/>
          </a:prstGeom>
          <a:solidFill>
            <a:srgbClr val="8F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966960" y="3557016"/>
            <a:ext cx="8046720" cy="109728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3648456"/>
            <a:ext cx="7680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419"/>
              </a:spcAft>
              <a:buNone/>
            </a:pPr>
            <a:r>
              <a:rPr sz="2520" b="1">
                <a:solidFill>
                  <a:srgbClr val="FFFFFF"/>
                </a:solidFill>
              </a:rPr>
              <a:t>Tier 2: Stream Ingestion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889" b="0">
                <a:solidFill>
                  <a:srgbClr val="E6ECF5"/>
                </a:solidFill>
              </a:rPr>
              <a:t>Threaded capture (USB / IP / RTSP / file), queue depth 1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3624560" y="4672584"/>
            <a:ext cx="731520" cy="292608"/>
          </a:xfrm>
          <a:prstGeom prst="downArrow">
            <a:avLst/>
          </a:prstGeom>
          <a:solidFill>
            <a:srgbClr val="8F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66960" y="4965192"/>
            <a:ext cx="8046720" cy="109728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5056631"/>
            <a:ext cx="7680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419"/>
              </a:spcAft>
              <a:buNone/>
            </a:pPr>
            <a:r>
              <a:rPr sz="2520" b="1">
                <a:solidFill>
                  <a:srgbClr val="FFFFFF"/>
                </a:solidFill>
              </a:rPr>
              <a:t>Tier 3: Compliance &amp; Hazard Engine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889" b="0">
                <a:solidFill>
                  <a:srgbClr val="E6ECF5"/>
                </a:solidFill>
              </a:rPr>
              <a:t>Worker tracking, PPE association, temporal validation, risk and incident engines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3624560" y="6080759"/>
            <a:ext cx="731520" cy="292608"/>
          </a:xfrm>
          <a:prstGeom prst="downArrow">
            <a:avLst/>
          </a:prstGeom>
          <a:solidFill>
            <a:srgbClr val="8F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6960" y="6373368"/>
            <a:ext cx="8046720" cy="1097280"/>
          </a:xfrm>
          <a:prstGeom prst="roundRect">
            <a:avLst>
              <a:gd name="adj" fmla="val 12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6464807"/>
            <a:ext cx="7680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419"/>
              </a:spcAft>
              <a:buNone/>
            </a:pPr>
            <a:r>
              <a:rPr sz="2520" b="1">
                <a:solidFill>
                  <a:srgbClr val="FFFFFF"/>
                </a:solidFill>
              </a:rPr>
              <a:t>Tier 4: AI Inference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889" b="0">
                <a:solidFill>
                  <a:srgbClr val="E6ECF5"/>
                </a:solidFill>
              </a:rPr>
              <a:t>YOLOv8n (7 classes) + ByteTrack, fire/smoke state machine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13624560" y="7488936"/>
            <a:ext cx="731520" cy="292608"/>
          </a:xfrm>
          <a:prstGeom prst="downArrow">
            <a:avLst/>
          </a:prstGeom>
          <a:solidFill>
            <a:srgbClr val="8F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66960" y="7781544"/>
            <a:ext cx="8046720" cy="1097280"/>
          </a:xfrm>
          <a:prstGeom prst="roundRect">
            <a:avLst>
              <a:gd name="adj" fmla="val 12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7872983"/>
            <a:ext cx="76809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419"/>
              </a:spcAft>
              <a:buNone/>
            </a:pPr>
            <a:r>
              <a:rPr sz="2520" b="1">
                <a:solidFill>
                  <a:srgbClr val="FFFFFF"/>
                </a:solidFill>
              </a:rPr>
              <a:t>Tier 5: Alerts, Evidence &amp; Storage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1889" b="0">
                <a:solidFill>
                  <a:srgbClr val="E6ECF5"/>
                </a:solidFill>
              </a:rPr>
              <a:t>Alarm, evidence capture, SQLite (WAL), Prometheus health metrics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6906" y="-211788"/>
            <a:ext cx="14914188" cy="2191988"/>
            <a:chOff x="0" y="0"/>
            <a:chExt cx="19885584" cy="29226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85533" cy="2922651"/>
            </a:xfrm>
            <a:custGeom>
              <a:avLst/>
              <a:gdLst/>
              <a:ahLst/>
              <a:cxnLst/>
              <a:rect r="r" b="b" t="t" l="l"/>
              <a:pathLst>
                <a:path h="2922651" w="19885533">
                  <a:moveTo>
                    <a:pt x="0" y="0"/>
                  </a:moveTo>
                  <a:lnTo>
                    <a:pt x="19885533" y="0"/>
                  </a:lnTo>
                  <a:lnTo>
                    <a:pt x="19885533" y="2922651"/>
                  </a:lnTo>
                  <a:lnTo>
                    <a:pt x="0" y="292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2482" r="0" b="-824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6906" y="-236496"/>
            <a:ext cx="14914188" cy="2216696"/>
            <a:chOff x="0" y="0"/>
            <a:chExt cx="19885584" cy="29555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85586" cy="2955601"/>
            </a:xfrm>
            <a:custGeom>
              <a:avLst/>
              <a:gdLst/>
              <a:ahLst/>
              <a:cxnLst/>
              <a:rect r="r" b="b" t="t" l="l"/>
              <a:pathLst>
                <a:path h="2955601" w="19885586">
                  <a:moveTo>
                    <a:pt x="0" y="0"/>
                  </a:moveTo>
                  <a:lnTo>
                    <a:pt x="19885586" y="0"/>
                  </a:lnTo>
                  <a:lnTo>
                    <a:pt x="19885586" y="2955601"/>
                  </a:lnTo>
                  <a:lnTo>
                    <a:pt x="0" y="2955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097" r="0" b="-810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885584" cy="2984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239" r="0" b="-823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460454" y="8161858"/>
            <a:ext cx="26899" cy="23222"/>
            <a:chOff x="0" y="0"/>
            <a:chExt cx="35865" cy="309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54" y="-20"/>
              <a:ext cx="35868" cy="30965"/>
            </a:xfrm>
            <a:custGeom>
              <a:avLst/>
              <a:gdLst/>
              <a:ahLst/>
              <a:cxnLst/>
              <a:rect r="r" b="b" t="t" l="l"/>
              <a:pathLst>
                <a:path h="30965" w="35868">
                  <a:moveTo>
                    <a:pt x="35868" y="11577"/>
                  </a:moveTo>
                  <a:cubicBezTo>
                    <a:pt x="19358" y="36977"/>
                    <a:pt x="4118" y="31897"/>
                    <a:pt x="1578" y="26817"/>
                  </a:cubicBezTo>
                  <a:cubicBezTo>
                    <a:pt x="-2232" y="21737"/>
                    <a:pt x="1578" y="5227"/>
                    <a:pt x="5388" y="1417"/>
                  </a:cubicBezTo>
                  <a:cubicBezTo>
                    <a:pt x="10468" y="-2393"/>
                    <a:pt x="30788" y="2687"/>
                    <a:pt x="30788" y="2687"/>
                  </a:cubicBezTo>
                </a:path>
              </a:pathLst>
            </a:custGeom>
            <a:solidFill>
              <a:srgbClr val="FCFCF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9591437"/>
            <a:ext cx="15097544" cy="54737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>
              <a:lnSpc>
                <a:spcPts val="4479"/>
              </a:lnSpc>
              <a:spcAft>
                <a:spcPts val="0"/>
              </a:spcAft>
              <a:buNone/>
            </a:pPr>
            <a:r>
              <a:rPr sz="3750" b="0">
                <a:solidFill>
                  <a:srgbClr val="FFFFFF"/>
                </a:solidFill>
              </a:rPr>
              <a:t>“No New Sensors. No Cloud Dependency. Just Smarter Cameras.”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6423" y="1965960"/>
            <a:ext cx="5222834" cy="6400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>
              <a:lnSpc>
                <a:spcPts val="3500"/>
              </a:lnSpc>
              <a:spcAft>
                <a:spcPts val="0"/>
              </a:spcAft>
              <a:buNone/>
            </a:pPr>
            <a:r>
              <a:rPr sz="2625" b="1">
                <a:solidFill>
                  <a:srgbClr val="0070C0"/>
                </a:solidFill>
              </a:rPr>
              <a:t>ANALYSIS OF FEASIBILITY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28015" y="1965960"/>
            <a:ext cx="4445984" cy="6400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>
              <a:lnSpc>
                <a:spcPts val="3500"/>
              </a:lnSpc>
              <a:spcAft>
                <a:spcPts val="0"/>
              </a:spcAft>
              <a:buNone/>
            </a:pPr>
            <a:r>
              <a:rPr sz="2625" b="1">
                <a:solidFill>
                  <a:srgbClr val="0070C0"/>
                </a:solidFill>
              </a:rPr>
              <a:t>POTENTIAL CHALLENGES &amp; RISKS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36049" y="1965960"/>
            <a:ext cx="4921463" cy="6400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>
              <a:lnSpc>
                <a:spcPts val="3498"/>
              </a:lnSpc>
              <a:spcAft>
                <a:spcPts val="0"/>
              </a:spcAft>
              <a:buNone/>
            </a:pPr>
            <a:r>
              <a:rPr sz="2625" b="1">
                <a:solidFill>
                  <a:srgbClr val="0070C0"/>
                </a:solidFill>
              </a:rPr>
              <a:t>STRATEGIES TO OVERCOME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8640" y="2834640"/>
            <a:ext cx="5394960" cy="6400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>
              <a:lnSpc>
                <a:spcPts val="3398"/>
              </a:lnSpc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Runs on existing hardware: </a:t>
            </a:r>
            <a:r>
              <a:rPr sz="1875" b="0">
                <a:solidFill>
                  <a:srgbClr val="1F1F1F"/>
                </a:solidFill>
              </a:rPr>
              <a:t>CPU-only prototype, 56 ms YOLOv8n inference (≈17.7 FPS) on an Intel i5-13420H.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Low integration cost: </a:t>
            </a:r>
            <a:r>
              <a:rPr sz="1875" b="0">
                <a:solidFill>
                  <a:srgbClr val="1F1F1F"/>
                </a:solidFill>
              </a:rPr>
              <a:t>uses existing USB, IP and RTSP cameras; no new sensors.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Proven datasets: </a:t>
            </a:r>
            <a:r>
              <a:rPr sz="1875" b="0">
                <a:solidFill>
                  <a:srgbClr val="1F1F1F"/>
                </a:solidFill>
              </a:rPr>
              <a:t>Pictor PPE, Hard Hat Workers, Construction Site Safety and D-Fire.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Verified: </a:t>
            </a:r>
            <a:r>
              <a:rPr sz="1875" b="0">
                <a:solidFill>
                  <a:srgbClr val="1F1F1F"/>
                </a:solidFill>
              </a:rPr>
              <a:t>250 unit, 39 integration and 20 E2E recovery tests pass.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Modular design: </a:t>
            </a:r>
            <a:r>
              <a:rPr sz="1875" b="0">
                <a:solidFill>
                  <a:srgbClr val="1F1F1F"/>
                </a:solidFill>
              </a:rPr>
              <a:t>multi-camera-ready backend, WebSocket dashboard, SQLite WAL.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75120" y="2834640"/>
            <a:ext cx="5394960" cy="6400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>
              <a:lnSpc>
                <a:spcPts val="3540"/>
              </a:lnSpc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Steam, sparks and dust </a:t>
            </a:r>
            <a:r>
              <a:rPr sz="1875" b="0">
                <a:solidFill>
                  <a:srgbClr val="1F1F1F"/>
                </a:solidFill>
              </a:rPr>
              <a:t>can cause fire/smoke false alarms.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Plain orange or yellow clothing </a:t>
            </a:r>
            <a:r>
              <a:rPr sz="1875" b="0">
                <a:solidFill>
                  <a:srgbClr val="1F1F1F"/>
                </a:solidFill>
              </a:rPr>
              <a:t>can be mistaken for high-vis vests.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Occlusion and posture: </a:t>
            </a:r>
            <a:r>
              <a:rPr sz="1875" b="0">
                <a:solidFill>
                  <a:srgbClr val="1F1F1F"/>
                </a:solidFill>
              </a:rPr>
              <a:t>kneeling, bending or machinery can hide boots and gloves.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Missed detections </a:t>
            </a:r>
            <a:r>
              <a:rPr sz="1875" b="0">
                <a:solidFill>
                  <a:srgbClr val="1F1F1F"/>
                </a:solidFill>
              </a:rPr>
              <a:t>can turn into false violations.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Video latency and CPU limits </a:t>
            </a:r>
            <a:r>
              <a:rPr sz="1875" b="0">
                <a:solidFill>
                  <a:srgbClr val="1F1F1F"/>
                </a:solidFill>
              </a:rPr>
              <a:t>on multiple or high-resolution feeds.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Camera dropouts </a:t>
            </a:r>
            <a:r>
              <a:rPr sz="1875" b="0">
                <a:solidFill>
                  <a:srgbClr val="1F1F1F"/>
                </a:solidFill>
              </a:rPr>
              <a:t>and unstable streams.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710160" y="2834640"/>
            <a:ext cx="5212080" cy="64008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 marL="0" indent="0">
              <a:lnSpc>
                <a:spcPts val="3258"/>
              </a:lnSpc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Temporal validation </a:t>
            </a:r>
            <a:r>
              <a:rPr sz="1875" b="0">
                <a:solidFill>
                  <a:srgbClr val="1F1F1F"/>
                </a:solidFill>
              </a:rPr>
              <a:t>plus a fire/smoke state machine and hard-negative validation.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Worker-level spatial association </a:t>
            </a:r>
            <a:r>
              <a:rPr sz="1875" b="0">
                <a:solidFill>
                  <a:srgbClr val="1F1F1F"/>
                </a:solidFill>
              </a:rPr>
              <a:t>maps gear to head, torso, hands and feet.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UNKNOWN state: </a:t>
            </a:r>
            <a:r>
              <a:rPr sz="1875" b="0">
                <a:solidFill>
                  <a:srgbClr val="1F1F1F"/>
                </a:solidFill>
              </a:rPr>
              <a:t>unclear frames are never treated as violations.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Latest-frame-wins </a:t>
            </a:r>
            <a:r>
              <a:rPr sz="1875" b="0">
                <a:solidFill>
                  <a:srgbClr val="1F1F1F"/>
                </a:solidFill>
              </a:rPr>
              <a:t>with a bounded queue and a lightweight 384×384 model.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0070C0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Camera health monitoring </a:t>
            </a:r>
            <a:r>
              <a:rPr sz="1875" b="0">
                <a:solidFill>
                  <a:srgbClr val="1F1F1F"/>
                </a:solidFill>
              </a:rPr>
              <a:t>with automatic reconnect.</a:t>
            </a:r>
          </a:p>
          <a:p>
            <a:pPr algn="l" marL="0" indent="0">
              <a:spcAft>
                <a:spcPts val="1125"/>
              </a:spcAft>
              <a:buNone/>
            </a:pPr>
            <a:r>
              <a:rPr sz="1875" b="1">
                <a:solidFill>
                  <a:srgbClr val="E8590C"/>
                </a:solidFill>
              </a:rPr>
              <a:t>▪ </a:t>
            </a:r>
            <a:r>
              <a:rPr sz="1875" b="1">
                <a:solidFill>
                  <a:srgbClr val="1F1F1F"/>
                </a:solidFill>
              </a:rPr>
              <a:t>Planned: </a:t>
            </a:r>
            <a:r>
              <a:rPr sz="1875" b="0">
                <a:solidFill>
                  <a:srgbClr val="1F1F1F"/>
                </a:solidFill>
              </a:rPr>
              <a:t>INT8/FP16 quantization and NVIDIA Jetson + TensorRT edge acceleration.</a:t>
            </a:r>
          </a:p>
        </p:txBody>
      </p:sp>
      <p:sp>
        <p:nvSpPr>
          <p:cNvPr name="AutoShape 25" id="25"/>
          <p:cNvSpPr/>
          <p:nvPr/>
        </p:nvSpPr>
        <p:spPr>
          <a:xfrm flipH="true">
            <a:off x="6388595" y="1897380"/>
            <a:ext cx="19050" cy="72951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12409551" y="1897330"/>
            <a:ext cx="19050" cy="72951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299134" y="171450"/>
            <a:ext cx="1459133" cy="1430398"/>
          </a:xfrm>
          <a:custGeom>
            <a:avLst/>
            <a:gdLst/>
            <a:ahLst/>
            <a:cxnLst/>
            <a:rect r="r" b="b" t="t" l="l"/>
            <a:pathLst>
              <a:path h="1430398" w="1459133">
                <a:moveTo>
                  <a:pt x="0" y="0"/>
                </a:moveTo>
                <a:lnTo>
                  <a:pt x="1459132" y="0"/>
                </a:lnTo>
                <a:lnTo>
                  <a:pt x="1459132" y="1430398"/>
                </a:lnTo>
                <a:lnTo>
                  <a:pt x="0" y="14303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04" r="0" b="-100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6179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6179" y="-21431"/>
            <a:ext cx="16459200" cy="1735931"/>
            <a:chOff x="0" y="0"/>
            <a:chExt cx="21945600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314575"/>
            </a:xfrm>
            <a:custGeom>
              <a:avLst/>
              <a:gdLst/>
              <a:ahLst/>
              <a:cxnLst/>
              <a:rect r="r" b="b" t="t" l="l"/>
              <a:pathLst>
                <a:path h="231457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4074" r="0" b="-42407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239" r="0" b="-8239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028700" y="9591437"/>
            <a:ext cx="15097544" cy="54737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 marL="0" indent="0">
              <a:lnSpc>
                <a:spcPts val="4479"/>
              </a:lnSpc>
              <a:spcAft>
                <a:spcPts val="0"/>
              </a:spcAft>
              <a:buNone/>
            </a:pPr>
            <a:r>
              <a:rPr sz="3450" b="0">
                <a:solidFill>
                  <a:srgbClr val="FFFFFF"/>
                </a:solidFill>
              </a:rPr>
              <a:t>“Because Every Worker Deserves to Return Home Safe.”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299134" y="171450"/>
            <a:ext cx="1459133" cy="1430398"/>
          </a:xfrm>
          <a:custGeom>
            <a:avLst/>
            <a:gdLst/>
            <a:ahLst/>
            <a:cxnLst/>
            <a:rect r="r" b="b" t="t" l="l"/>
            <a:pathLst>
              <a:path h="1430398" w="1459133">
                <a:moveTo>
                  <a:pt x="0" y="0"/>
                </a:moveTo>
                <a:lnTo>
                  <a:pt x="1459132" y="0"/>
                </a:lnTo>
                <a:lnTo>
                  <a:pt x="1459132" y="1430398"/>
                </a:lnTo>
                <a:lnTo>
                  <a:pt x="0" y="1430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04" r="0" b="-1004"/>
            </a:stretch>
          </a:blipFill>
        </p:spPr>
      </p:sp>
      <p:sp>
        <p:nvSpPr>
          <p:cNvPr id="56" name="Rounded Rectangle 55"/>
          <p:cNvSpPr/>
          <p:nvPr/>
        </p:nvSpPr>
        <p:spPr>
          <a:xfrm>
            <a:off x="548640" y="2011680"/>
            <a:ext cx="5577840" cy="31546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48640" y="2011680"/>
            <a:ext cx="5577840" cy="5943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201168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185" b="1">
                <a:solidFill>
                  <a:srgbClr val="FFFFFF"/>
                </a:solidFill>
              </a:rPr>
              <a:t>Worker Safety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" y="274320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Flags confirmed missing PPE (helmet, vest, gloves, footwear) per worker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Detects fire and smoke early and raises a P0 emergency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Alerts the site team faster than manual observation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55079" y="2011680"/>
            <a:ext cx="5577840" cy="31546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55079" y="2011680"/>
            <a:ext cx="5577840" cy="5943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79" y="201168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185" b="1">
                <a:solidFill>
                  <a:srgbClr val="FFFFFF"/>
                </a:solidFill>
              </a:rPr>
              <a:t>Safety Teams &amp; Supervisors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79" y="274320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Continuous monitoring replaces reliance on manual patrols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Live dashboard with incident log and system health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Location-specific alerts with incident context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161519" y="2011680"/>
            <a:ext cx="5577840" cy="31546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2161519" y="2011680"/>
            <a:ext cx="5577840" cy="5943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390119" y="201168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185" b="1">
                <a:solidFill>
                  <a:srgbClr val="FFFFFF"/>
                </a:solidFill>
              </a:rPr>
              <a:t>Compliance &amp; Audit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90119" y="274320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Evidence image saved with every incident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Timestamped incident records ready for safety audits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P0–P3 priorities and a 0–100 risk score explain every alert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5394960"/>
            <a:ext cx="5577840" cy="31546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48640" y="5394960"/>
            <a:ext cx="5577840" cy="5943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539496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185" b="1">
                <a:solidFill>
                  <a:srgbClr val="FFFFFF"/>
                </a:solidFill>
              </a:rPr>
              <a:t>Cost &amp; Deployment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612648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Works with existing CCTV and video files; no new sensors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Runs on a standard CPU; no GPU required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Modular software that grows camera by camera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55079" y="5394960"/>
            <a:ext cx="5577840" cy="31546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355079" y="5394960"/>
            <a:ext cx="5577840" cy="5943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79" y="539496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185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79" y="612648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Fewer false alarms through UNKNOWN state and temporal validation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Camera and system faults flagged by health monitoring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Prometheus metrics for monitoring and integration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2161519" y="5394960"/>
            <a:ext cx="5577840" cy="31546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2161519" y="5394960"/>
            <a:ext cx="5577840" cy="594360"/>
          </a:xfrm>
          <a:prstGeom prst="roundRect">
            <a:avLst>
              <a:gd name="adj" fmla="val 2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2390119" y="539496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185" b="1">
                <a:solidFill>
                  <a:srgbClr val="FFFFFF"/>
                </a:solidFill>
              </a:rPr>
              <a:t>People &amp; Environment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390119" y="6126480"/>
            <a:ext cx="5120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Supports a proactive, safety-first culture on the floor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Early smoke and fire detection helps limit harm to people and plant</a:t>
            </a:r>
          </a:p>
          <a:p>
            <a:pPr algn="l" marL="0" indent="0">
              <a:spcAft>
                <a:spcPts val="1035"/>
              </a:spcAft>
              <a:buNone/>
            </a:pPr>
            <a:r>
              <a:rPr sz="1782" b="1">
                <a:solidFill>
                  <a:srgbClr val="E8590C"/>
                </a:solidFill>
              </a:rPr>
              <a:t>▪ </a:t>
            </a:r>
            <a:r>
              <a:rPr sz="1782" b="1">
                <a:solidFill>
                  <a:srgbClr val="1F1F1F"/>
                </a:solidFill>
              </a:rPr>
              <a:t/>
            </a:r>
            <a:r>
              <a:rPr sz="1782" b="0">
                <a:solidFill>
                  <a:srgbClr val="1F1F1F"/>
                </a:solidFill>
              </a:rPr>
              <a:t>Supports safety teams; it does not by itself guarantee accident prevention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8640" y="8686800"/>
            <a:ext cx="17190720" cy="713232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77240" y="8686800"/>
            <a:ext cx="16733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1725" b="1">
                <a:solidFill>
                  <a:srgbClr val="FFAA66"/>
                </a:solidFill>
              </a:rPr>
              <a:t>FUTURE SCOPE:  </a:t>
            </a:r>
            <a:r>
              <a:rPr sz="1725" b="0">
                <a:solidFill>
                  <a:srgbClr val="FFFFFF"/>
                </a:solidFill>
              </a:rPr>
              <a:t>Jetson + TensorRT edge acceleration  •  Modbus / OPC-UA / MQTT  •  Zone geofencing and violation heatmaps  •  Historical analytics  •  Model improvements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40580" y="514350"/>
            <a:ext cx="12618720" cy="1028700"/>
            <a:chOff x="0" y="0"/>
            <a:chExt cx="16824960" cy="1371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249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8850" r="0" b="-188850"/>
              </a:stretch>
            </a:blipFill>
          </p:spPr>
          <p:txBody>
            <a:bodyPr/>
            <a:p/>
          </p:txBody>
        </p:sp>
      </p:grpSp>
      <p:sp>
        <p:nvSpPr>
          <p:cNvPr name="Freeform 4" id="4"/>
          <p:cNvSpPr/>
          <p:nvPr/>
        </p:nvSpPr>
        <p:spPr>
          <a:xfrm flipH="false" flipV="false" rot="0">
            <a:off x="781088" y="2535136"/>
            <a:ext cx="5297729" cy="6731699"/>
          </a:xfrm>
          <a:custGeom>
            <a:avLst/>
            <a:gdLst/>
            <a:ahLst/>
            <a:cxnLst/>
            <a:rect r="r" b="b" t="t" l="l"/>
            <a:pathLst>
              <a:path h="6731699" w="5297729">
                <a:moveTo>
                  <a:pt x="0" y="0"/>
                </a:moveTo>
                <a:lnTo>
                  <a:pt x="5297729" y="0"/>
                </a:lnTo>
                <a:lnTo>
                  <a:pt x="5297729" y="6731698"/>
                </a:lnTo>
                <a:lnTo>
                  <a:pt x="0" y="6731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5" id="5"/>
          <p:cNvGrpSpPr/>
          <p:nvPr/>
        </p:nvGrpSpPr>
        <p:grpSpPr>
          <a:xfrm rot="0">
            <a:off x="789623" y="3481578"/>
            <a:ext cx="5280660" cy="5881506"/>
            <a:chOff x="0" y="0"/>
            <a:chExt cx="7040880" cy="78420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40880" cy="7842012"/>
            </a:xfrm>
            <a:custGeom>
              <a:avLst/>
              <a:gdLst/>
              <a:ahLst/>
              <a:cxnLst/>
              <a:rect r="r" b="b" t="t" l="l"/>
              <a:pathLst>
                <a:path h="7842012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7842012"/>
                  </a:lnTo>
                  <a:lnTo>
                    <a:pt x="0" y="784201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3835" t="0" r="-113835" b="-14648"/>
              </a:stretch>
            </a:blip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040880" cy="7870584"/>
            </a:xfrm>
            <a:prstGeom prst="rect">
              <a:avLst/>
            </a:prstGeom>
          </p:spPr>
          <p:txBody>
            <a:bodyPr anchor="ctr" rtlCol="false" tIns="0" lIns="0" bIns="0" rIns="0" wrap="square"/>
            <a:lstStyle/>
            <a:p>
              <a:pPr algn="l" marL="0" indent="0">
                <a:lnSpc>
                  <a:spcPts val="2034"/>
                </a:lnSpc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Ultralytics YOLOv8 (2023)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Anchor-free real-time object detector used for all 7 classes.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github.com/ultralytics/ultralytics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ByteTrack (ECCV 2022)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Multi-object tracking that keeps worker IDs through occlusion.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arxiv.org/abs/2110.06864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CPPE-5 (arXiv 2021)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Medical PPE dataset paper; referenced for multi-class PPE evaluation.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arxiv.org/abs/2112.09569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D-Fire dataset and paper (2022)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Flame and smoke detection benchmark; Neural Computing &amp; Applications.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github.com/gaia-solutions-on-demand/DFireDataset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9622" y="2514600"/>
            <a:ext cx="5280660" cy="966978"/>
            <a:chOff x="0" y="0"/>
            <a:chExt cx="7040880" cy="12893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1289304"/>
            </a:xfrm>
            <a:custGeom>
              <a:avLst/>
              <a:gdLst/>
              <a:ahLst/>
              <a:cxnLst/>
              <a:rect r="r" b="b" t="t" l="l"/>
              <a:pathLst>
                <a:path h="1289304" w="7040880">
                  <a:moveTo>
                    <a:pt x="0" y="214884"/>
                  </a:moveTo>
                  <a:cubicBezTo>
                    <a:pt x="0" y="96266"/>
                    <a:pt x="62738" y="0"/>
                    <a:pt x="140081" y="0"/>
                  </a:cubicBezTo>
                  <a:lnTo>
                    <a:pt x="6900799" y="0"/>
                  </a:lnTo>
                  <a:cubicBezTo>
                    <a:pt x="6978142" y="0"/>
                    <a:pt x="7040880" y="96266"/>
                    <a:pt x="7040880" y="214884"/>
                  </a:cubicBezTo>
                  <a:lnTo>
                    <a:pt x="7040880" y="1074420"/>
                  </a:lnTo>
                  <a:cubicBezTo>
                    <a:pt x="7040880" y="1193038"/>
                    <a:pt x="6978142" y="1289304"/>
                    <a:pt x="6900799" y="1289304"/>
                  </a:cubicBezTo>
                  <a:lnTo>
                    <a:pt x="140081" y="1289304"/>
                  </a:lnTo>
                  <a:cubicBezTo>
                    <a:pt x="62738" y="1289304"/>
                    <a:pt x="0" y="1193038"/>
                    <a:pt x="0" y="1074420"/>
                  </a:cubicBezTo>
                  <a:close/>
                </a:path>
              </a:pathLst>
            </a:custGeom>
            <a:solidFill>
              <a:srgbClr val="0F2942"/>
            </a:solidFill>
          </p:spPr>
          <p:txBody>
            <a:bodyPr/>
            <a:p/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9623" y="2507456"/>
            <a:ext cx="5280660" cy="974122"/>
            <a:chOff x="0" y="0"/>
            <a:chExt cx="7040880" cy="12988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0880" cy="1298829"/>
            </a:xfrm>
            <a:custGeom>
              <a:avLst/>
              <a:gdLst/>
              <a:ahLst/>
              <a:cxnLst/>
              <a:rect r="r" b="b" t="t" l="l"/>
              <a:pathLst>
                <a:path h="1298829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98829"/>
                  </a:lnTo>
                  <a:lnTo>
                    <a:pt x="0" y="129882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627" r="0" b="-55627"/>
              </a:stretch>
            </a:blip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7040880" cy="13083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8"/>
                </a:lnSpc>
              </a:pPr>
              <a:r>
                <a:rPr lang="en-US" sz="1425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RESEARCH PAPERS / JOURNALS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505575" y="2506028"/>
            <a:ext cx="5320665" cy="6760845"/>
          </a:xfrm>
          <a:custGeom>
            <a:avLst/>
            <a:gdLst/>
            <a:ahLst/>
            <a:cxnLst/>
            <a:rect r="r" b="b" t="t" l="l"/>
            <a:pathLst>
              <a:path h="6760845" w="5320665">
                <a:moveTo>
                  <a:pt x="0" y="0"/>
                </a:moveTo>
                <a:lnTo>
                  <a:pt x="5320665" y="0"/>
                </a:lnTo>
                <a:lnTo>
                  <a:pt x="5320665" y="6760844"/>
                </a:lnTo>
                <a:lnTo>
                  <a:pt x="0" y="676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4" id="14"/>
          <p:cNvGrpSpPr/>
          <p:nvPr/>
        </p:nvGrpSpPr>
        <p:grpSpPr>
          <a:xfrm rot="0">
            <a:off x="6514147" y="3470148"/>
            <a:ext cx="5303520" cy="5918033"/>
            <a:chOff x="0" y="0"/>
            <a:chExt cx="7071360" cy="7890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71360" cy="7890711"/>
            </a:xfrm>
            <a:custGeom>
              <a:avLst/>
              <a:gdLst/>
              <a:ahLst/>
              <a:cxnLst/>
              <a:rect r="r" b="b" t="t" l="l"/>
              <a:pathLst>
                <a:path h="7890711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90711"/>
                  </a:lnTo>
                  <a:lnTo>
                    <a:pt x="0" y="789071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3835" t="0" r="-113835" b="-14434"/>
              </a:stretch>
            </a:blip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071360" cy="7919286"/>
            </a:xfrm>
            <a:prstGeom prst="rect">
              <a:avLst/>
            </a:prstGeom>
          </p:spPr>
          <p:txBody>
            <a:bodyPr anchor="ctr" rtlCol="false" tIns="0" lIns="0" bIns="0" rIns="0" wrap="square"/>
            <a:lstStyle/>
            <a:p>
              <a:pPr algn="l" marL="0" indent="0">
                <a:lnSpc>
                  <a:spcPts val="2034"/>
                </a:lnSpc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Pictor PPE [USED]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1,487 images of construction workers, helmets and vests.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github.com/carlosh93/pictor-ppe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Hard Hat Workers [USED]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7,035 images of worker headwear and safety vests.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public.roboflow.com/object-detection/hard-hat-workers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Construction Site Safety [USED]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9,451 images: helmets, vests, gloves and boots.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universe.roboflow.com/roboflow-universe-projects/construction-site-safety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D-Fire [USED]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4,480 images of flames and smoke plumes.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github.com/gaia-solutions-on-demand/DFireDataset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SH17 and Ultralytics PPE [REFERENCED]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Evaluated for class alignment and training settings.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14147" y="2503170"/>
            <a:ext cx="5303520" cy="959682"/>
            <a:chOff x="0" y="0"/>
            <a:chExt cx="7071360" cy="12795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1279525"/>
            </a:xfrm>
            <a:custGeom>
              <a:avLst/>
              <a:gdLst/>
              <a:ahLst/>
              <a:cxnLst/>
              <a:rect r="r" b="b" t="t" l="l"/>
              <a:pathLst>
                <a:path h="1279525" w="7071360">
                  <a:moveTo>
                    <a:pt x="0" y="213233"/>
                  </a:moveTo>
                  <a:cubicBezTo>
                    <a:pt x="0" y="95377"/>
                    <a:pt x="57531" y="0"/>
                    <a:pt x="128524" y="0"/>
                  </a:cubicBezTo>
                  <a:lnTo>
                    <a:pt x="6942836" y="0"/>
                  </a:lnTo>
                  <a:cubicBezTo>
                    <a:pt x="7013829" y="0"/>
                    <a:pt x="7071360" y="95377"/>
                    <a:pt x="7071360" y="213233"/>
                  </a:cubicBezTo>
                  <a:lnTo>
                    <a:pt x="7071360" y="1066292"/>
                  </a:lnTo>
                  <a:cubicBezTo>
                    <a:pt x="7071360" y="1184148"/>
                    <a:pt x="7013829" y="1279525"/>
                    <a:pt x="6942836" y="1279525"/>
                  </a:cubicBezTo>
                  <a:lnTo>
                    <a:pt x="128524" y="1279525"/>
                  </a:lnTo>
                  <a:cubicBezTo>
                    <a:pt x="57531" y="1279525"/>
                    <a:pt x="0" y="1184148"/>
                    <a:pt x="0" y="1066292"/>
                  </a:cubicBezTo>
                  <a:close/>
                </a:path>
              </a:pathLst>
            </a:custGeom>
            <a:solidFill>
              <a:srgbClr val="166534"/>
            </a:solidFill>
          </p:spPr>
          <p:txBody>
            <a:bodyPr/>
            <a:p/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14147" y="2495998"/>
            <a:ext cx="5303520" cy="966860"/>
            <a:chOff x="0" y="0"/>
            <a:chExt cx="7071360" cy="12891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71360" cy="1289141"/>
            </a:xfrm>
            <a:custGeom>
              <a:avLst/>
              <a:gdLst/>
              <a:ahLst/>
              <a:cxnLst/>
              <a:rect r="r" b="b" t="t" l="l"/>
              <a:pathLst>
                <a:path h="1289141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289141"/>
                  </a:lnTo>
                  <a:lnTo>
                    <a:pt x="0" y="12891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881" r="0" b="-56882"/>
              </a:stretch>
            </a:blipFill>
          </p:spPr>
          <p:txBody>
            <a:bodyPr/>
            <a:p/>
          </p:txBody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071360" cy="1298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DATASETS (ACTUALLY USED &amp; REFERENCED)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186285" y="2494598"/>
            <a:ext cx="5320665" cy="6760845"/>
          </a:xfrm>
          <a:custGeom>
            <a:avLst/>
            <a:gdLst/>
            <a:ahLst/>
            <a:cxnLst/>
            <a:rect r="r" b="b" t="t" l="l"/>
            <a:pathLst>
              <a:path h="6760845" w="5320665">
                <a:moveTo>
                  <a:pt x="0" y="0"/>
                </a:moveTo>
                <a:lnTo>
                  <a:pt x="5320665" y="0"/>
                </a:lnTo>
                <a:lnTo>
                  <a:pt x="5320665" y="6760844"/>
                </a:lnTo>
                <a:lnTo>
                  <a:pt x="0" y="676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12194857" y="3462852"/>
            <a:ext cx="5303520" cy="5784018"/>
            <a:chOff x="0" y="0"/>
            <a:chExt cx="7071360" cy="7712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7712024"/>
            </a:xfrm>
            <a:custGeom>
              <a:avLst/>
              <a:gdLst/>
              <a:ahLst/>
              <a:cxnLst/>
              <a:rect r="r" b="b" t="t" l="l"/>
              <a:pathLst>
                <a:path h="771202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712024"/>
                  </a:lnTo>
                  <a:lnTo>
                    <a:pt x="0" y="771202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3663" t="0" r="-113663" b="-16962"/>
              </a:stretch>
            </a:blipFill>
          </p:spPr>
          <p:txBody>
            <a:bodyPr/>
            <a:p/>
          </p:txBody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071360" cy="7740599"/>
            </a:xfrm>
            <a:prstGeom prst="rect">
              <a:avLst/>
            </a:prstGeom>
          </p:spPr>
          <p:txBody>
            <a:bodyPr anchor="ctr" rtlCol="false" tIns="0" lIns="0" bIns="0" rIns="0" wrap="square"/>
            <a:lstStyle/>
            <a:p>
              <a:pPr algn="l" marL="0" indent="0">
                <a:lnSpc>
                  <a:spcPts val="2034"/>
                </a:lnSpc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FastAPI and Uvicorn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Async Python API and WebSocket backend.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fastapi.tiangolo.com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React 18 and Vite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Component-based dashboard frontend.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react.dev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SQLite WAL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ACID persistence with write-ahead logging.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sqlite.org/wal.html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SafeSync repository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Codebase, models and test suites.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github.com/SMRU08/SafeSync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OSHA 29 CFR 1926.100 and 1926.95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Head protection and personal protective equipment.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osha.gov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500" b="1">
                  <a:solidFill>
                    <a:srgbClr val="1F1F1F"/>
                  </a:solidFill>
                </a:rPr>
                <a:t>ISO 45001:2018</a:t>
              </a:r>
            </a:p>
            <a:p>
              <a:pPr algn="l" marL="0" indent="0">
                <a:spcAft>
                  <a:spcPts val="120"/>
                </a:spcAft>
                <a:buNone/>
              </a:pPr>
              <a:r>
                <a:rPr sz="1439" b="0">
                  <a:solidFill>
                    <a:srgbClr val="1F1F1F"/>
                  </a:solidFill>
                </a:rPr>
                <a:t>Occupational health and safety management systems.</a:t>
              </a:r>
            </a:p>
            <a:p>
              <a:pPr algn="l" marL="0" indent="0">
                <a:spcAft>
                  <a:spcPts val="960"/>
                </a:spcAft>
                <a:buNone/>
              </a:pPr>
              <a:r>
                <a:rPr sz="1260" b="0">
                  <a:solidFill>
                    <a:srgbClr val="0070C0"/>
                  </a:solidFill>
                </a:rPr>
                <a:t>iso.org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06288" y="2514600"/>
            <a:ext cx="5280660" cy="955548"/>
            <a:chOff x="0" y="0"/>
            <a:chExt cx="7040880" cy="1274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0880" cy="1274064"/>
            </a:xfrm>
            <a:custGeom>
              <a:avLst/>
              <a:gdLst/>
              <a:ahLst/>
              <a:cxnLst/>
              <a:rect r="r" b="b" t="t" l="l"/>
              <a:pathLst>
                <a:path h="1274064" w="7040880">
                  <a:moveTo>
                    <a:pt x="0" y="212344"/>
                  </a:moveTo>
                  <a:cubicBezTo>
                    <a:pt x="0" y="94996"/>
                    <a:pt x="57277" y="0"/>
                    <a:pt x="128016" y="0"/>
                  </a:cubicBezTo>
                  <a:lnTo>
                    <a:pt x="6912864" y="0"/>
                  </a:lnTo>
                  <a:cubicBezTo>
                    <a:pt x="6983603" y="0"/>
                    <a:pt x="7040880" y="94996"/>
                    <a:pt x="7040880" y="212344"/>
                  </a:cubicBezTo>
                  <a:lnTo>
                    <a:pt x="7040880" y="1061720"/>
                  </a:lnTo>
                  <a:cubicBezTo>
                    <a:pt x="7040880" y="1179068"/>
                    <a:pt x="6983603" y="1274064"/>
                    <a:pt x="6912864" y="1274064"/>
                  </a:cubicBezTo>
                  <a:lnTo>
                    <a:pt x="128016" y="1274064"/>
                  </a:lnTo>
                  <a:cubicBezTo>
                    <a:pt x="57277" y="1274064"/>
                    <a:pt x="0" y="1179068"/>
                    <a:pt x="0" y="1061720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06288" y="2507456"/>
            <a:ext cx="5280660" cy="962692"/>
            <a:chOff x="0" y="0"/>
            <a:chExt cx="7040880" cy="12835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40880" cy="1283589"/>
            </a:xfrm>
            <a:custGeom>
              <a:avLst/>
              <a:gdLst/>
              <a:ahLst/>
              <a:cxnLst/>
              <a:rect r="r" b="b" t="t" l="l"/>
              <a:pathLst>
                <a:path h="1283589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1283589"/>
                  </a:lnTo>
                  <a:lnTo>
                    <a:pt x="0" y="12835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881" r="0" b="-568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7040880" cy="1293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8"/>
                </a:lnSpc>
              </a:pPr>
              <a:r>
                <a:rPr lang="en-US" sz="1425">
                  <a:solidFill>
                    <a:srgbClr val="FFFFFF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FRAMEWORKS, OFFICIAL DOCUMENTATION, GITHUB &amp; SAFETY STANDARDS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244604" y="171450"/>
            <a:ext cx="12922120" cy="1714500"/>
            <a:chOff x="0" y="0"/>
            <a:chExt cx="17229493" cy="228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229455" cy="2286000"/>
            </a:xfrm>
            <a:custGeom>
              <a:avLst/>
              <a:gdLst/>
              <a:ahLst/>
              <a:cxnLst/>
              <a:rect r="r" b="b" t="t" l="l"/>
              <a:pathLst>
                <a:path h="2286000" w="17229455">
                  <a:moveTo>
                    <a:pt x="0" y="0"/>
                  </a:moveTo>
                  <a:lnTo>
                    <a:pt x="17229455" y="0"/>
                  </a:lnTo>
                  <a:lnTo>
                    <a:pt x="17229455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756" r="0" b="-9675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44604" y="150019"/>
            <a:ext cx="12922120" cy="1735931"/>
            <a:chOff x="0" y="0"/>
            <a:chExt cx="17229493" cy="23145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229497" cy="2314575"/>
            </a:xfrm>
            <a:custGeom>
              <a:avLst/>
              <a:gdLst/>
              <a:ahLst/>
              <a:cxnLst/>
              <a:rect r="r" b="b" t="t" l="l"/>
              <a:pathLst>
                <a:path h="2314575" w="17229497">
                  <a:moveTo>
                    <a:pt x="0" y="0"/>
                  </a:moveTo>
                  <a:lnTo>
                    <a:pt x="17229497" y="0"/>
                  </a:lnTo>
                  <a:lnTo>
                    <a:pt x="17229497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5044" r="0" b="-9504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7229493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239" r="0" b="-8239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299134" y="171450"/>
            <a:ext cx="1459133" cy="1430398"/>
          </a:xfrm>
          <a:custGeom>
            <a:avLst/>
            <a:gdLst/>
            <a:ahLst/>
            <a:cxnLst/>
            <a:rect r="r" b="b" t="t" l="l"/>
            <a:pathLst>
              <a:path h="1430398" w="1459133">
                <a:moveTo>
                  <a:pt x="0" y="0"/>
                </a:moveTo>
                <a:lnTo>
                  <a:pt x="1459132" y="0"/>
                </a:lnTo>
                <a:lnTo>
                  <a:pt x="1459132" y="1430398"/>
                </a:lnTo>
                <a:lnTo>
                  <a:pt x="0" y="14303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004" r="0" b="-100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DAHV_ZpaqlM</dc:identifier>
  <dcterms:modified xsi:type="dcterms:W3CDTF">2011-08-01T06:04:30Z</dcterms:modified>
  <cp:revision>1</cp:revision>
  <dc:title>BPUT HACKATHON 2026</dc:title>
</cp:coreProperties>
</file>