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48A88-9F9C-7E84-53EA-C9B9B4754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5A6A1-FCA4-7B56-D848-6262F31B0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92E80-F00C-239E-A4A2-9F2B6DD4B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F4EF-292C-4AC9-8F14-340533E41E01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1E79E-1EAD-6F5B-A01C-0E187C8A9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9C8C6-21D3-5AC3-DDFA-0B5C3C1C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B7E-B456-4D20-8C62-3FBF990A8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05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184D4-1850-4A40-4725-32D8F95D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789AB-9390-494B-E5EF-4AC3FD6B9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CC9C4-B184-199E-C399-87AAB8A66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F4EF-292C-4AC9-8F14-340533E41E01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BDBC0-22A3-7970-034F-9CA7EC95D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25AE1-B4E0-39BE-567B-9C431CB0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B7E-B456-4D20-8C62-3FBF990A8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041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3DA3C-2A25-A3AF-62AC-90E2C3907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E01F4-2DD5-202F-D70E-D6B384B44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1CD82-9541-7383-F145-51FEDED4D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F4EF-292C-4AC9-8F14-340533E41E01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81FC5-7A87-8698-3AF7-8813C8998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B9311-2164-D451-AB99-F7C5AF9A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B7E-B456-4D20-8C62-3FBF990A8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26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486D6-D98E-C484-E22B-DE118D720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DC46-8657-40A1-127B-6ADF5EE81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000B8-DE2B-9CBF-5934-44F2DFBEC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C79ED-9086-6414-E6C6-99DCF6D8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F4EF-292C-4AC9-8F14-340533E41E01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5A72A-B22C-912B-FDB7-DF65D371B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04881-2DF1-DDB2-0A14-140A667F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B7E-B456-4D20-8C62-3FBF990A8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179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1748-C1CF-A329-DD4A-E9269DF10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FFC3D-6C85-5D9E-9872-FC878C962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F541C-1CC8-C2A0-EBDA-4A6F6561A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5825F1-B912-E6A2-A5E3-80C6C8F7C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4C3AA-0096-181F-1A9F-875026592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3F6E65-E2D9-75AD-B3C1-2A47F501B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F4EF-292C-4AC9-8F14-340533E41E01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B3CCC-D692-C328-433A-E80AC232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8F2B2-5074-96DA-A50A-A6A09CA7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B7E-B456-4D20-8C62-3FBF990A8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93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E7AC-7EF5-9EA7-9A59-5256C964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DE23E-4968-A9BA-A5C4-60C1A5C7B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F4EF-292C-4AC9-8F14-340533E41E01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9ADA90-7A2E-1CA2-EE85-B3DA8D56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26B82B-8CBE-F8EC-1640-AEE708A2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B7E-B456-4D20-8C62-3FBF990A8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200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947D71-0A54-5AC6-DFF4-7CF76145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F4EF-292C-4AC9-8F14-340533E41E01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9D33D-573D-59C7-F3EF-B9E221F2D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40A5F-0293-ACED-8C15-E085D714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B7E-B456-4D20-8C62-3FBF990A8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79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438D-87FD-A8F9-C06D-C8683267F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2D39D-9576-F655-5726-52B51BD9B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95387-F2BE-16A8-9FF7-686C10774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575B1-62E6-6A6C-3919-756F2FBF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F4EF-292C-4AC9-8F14-340533E41E01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B1261-4DBA-652A-C6A6-A82A645F8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10D93-936E-75DF-9ECD-D2C7634A8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B7E-B456-4D20-8C62-3FBF990A8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436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6859A-C9C3-1337-1CD7-96255A438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F01B4-43BD-A853-B59F-1D4A8DD3B7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83F81-0728-38AF-31CB-ED18D1C0F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AF0AF-F526-5A23-84B2-49B9AEAC8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F4EF-292C-4AC9-8F14-340533E41E01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F011F-4CAE-7078-81B2-725F70F9D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2434B-ECBD-58E3-5968-FBD6068D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B7E-B456-4D20-8C62-3FBF990A8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84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64AF3-435F-A6E5-CFDF-69B6E21D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02BC5-5EB0-B212-27D2-5C3D57339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B721A-383D-175C-75DA-7C7D686B0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F4EF-292C-4AC9-8F14-340533E41E01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F8EB1-4FEB-E7A8-7323-724129473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5FE8A-1B31-47FB-8D15-9B5E442B6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B7E-B456-4D20-8C62-3FBF990A8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698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A1D51A-C5A1-5E8B-DA3A-3DF10B64E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70719-BFB4-B490-E8F1-2D16C7791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6C8F9-6249-6F04-E205-8975DB864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F4EF-292C-4AC9-8F14-340533E41E01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C18C4-62BC-8135-B8AA-F7780974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97AC0-A203-00A0-3E06-A9EFEC16C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B7E-B456-4D20-8C62-3FBF990A8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53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E47E5-8672-F60E-B60C-9DDDFCE12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92FF4-AA1D-DBB0-3E92-60EEE2C1F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A0A7B-F994-5EFE-22B3-BE588CB3A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5F4EF-292C-4AC9-8F14-340533E41E01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793D8-758C-66C5-554F-3ACE10A78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6072F-701A-9097-778B-8324F7DD2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53B7E-B456-4D20-8C62-3FBF990A8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520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70F288-69BB-B736-6B81-1082FEB306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DC5220-4597-00DD-0589-2DC8E7BE01E4}"/>
              </a:ext>
            </a:extLst>
          </p:cNvPr>
          <p:cNvSpPr/>
          <p:nvPr/>
        </p:nvSpPr>
        <p:spPr>
          <a:xfrm>
            <a:off x="635000" y="762000"/>
            <a:ext cx="50800" cy="1651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1BCC19-5717-2C28-85B7-D3FFC0077B9A}"/>
              </a:ext>
            </a:extLst>
          </p:cNvPr>
          <p:cNvSpPr/>
          <p:nvPr/>
        </p:nvSpPr>
        <p:spPr>
          <a:xfrm>
            <a:off x="838200" y="762000"/>
            <a:ext cx="6350000" cy="30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" b="1">
                <a:solidFill>
                  <a:srgbClr val="38BDF8"/>
                </a:solidFill>
                <a:latin typeface="Segoe UI" panose="020B0502040204020203" pitchFamily="34" charset="0"/>
              </a:rPr>
              <a:t>BPUT HACKATHON 2026 â€¢ PROBLEM STATEMENT PS06</a:t>
            </a:r>
            <a:endParaRPr lang="en-IN" sz="1000" b="1">
              <a:solidFill>
                <a:srgbClr val="38BDF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D3245-3BB9-706D-F8F4-899F8E2734E5}"/>
              </a:ext>
            </a:extLst>
          </p:cNvPr>
          <p:cNvSpPr txBox="1"/>
          <p:nvPr/>
        </p:nvSpPr>
        <p:spPr>
          <a:xfrm>
            <a:off x="812800" y="1143000"/>
            <a:ext cx="10160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4600" b="1">
                <a:solidFill>
                  <a:srgbClr val="F8FAFC"/>
                </a:solidFill>
                <a:latin typeface="Segoe UI" panose="020B0502040204020203" pitchFamily="34" charset="0"/>
              </a:rPr>
              <a:t>RAKSHYA 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54F06E-2466-234A-E1E3-6138BC33DDAD}"/>
              </a:ext>
            </a:extLst>
          </p:cNvPr>
          <p:cNvSpPr txBox="1"/>
          <p:nvPr/>
        </p:nvSpPr>
        <p:spPr>
          <a:xfrm>
            <a:off x="838200" y="1955800"/>
            <a:ext cx="1016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10B981"/>
                </a:solidFill>
                <a:latin typeface="Segoe UI" panose="020B0502040204020203" pitchFamily="34" charset="0"/>
              </a:rPr>
              <a:t>AI-Powered Workplace Safety Monitoring &amp; Compliance Platform</a:t>
            </a:r>
            <a:endParaRPr lang="en-IN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900C2E-215D-7B04-294F-AD3BE0F4578C}"/>
              </a:ext>
            </a:extLst>
          </p:cNvPr>
          <p:cNvSpPr/>
          <p:nvPr/>
        </p:nvSpPr>
        <p:spPr>
          <a:xfrm>
            <a:off x="838200" y="2489200"/>
            <a:ext cx="2794000" cy="33020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10B981"/>
                </a:solidFill>
                <a:latin typeface="Segoe UI" panose="020B0502040204020203" pitchFamily="34" charset="0"/>
              </a:rPr>
              <a:t>Detect â€¢ Understand â€¢ Alert â€¢ Protect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063FFD-CAC9-52B9-92A2-1E5263B6E3AF}"/>
              </a:ext>
            </a:extLst>
          </p:cNvPr>
          <p:cNvSpPr/>
          <p:nvPr/>
        </p:nvSpPr>
        <p:spPr>
          <a:xfrm>
            <a:off x="838200" y="3111500"/>
            <a:ext cx="6096000" cy="29845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09C10A-A9C5-E454-EBE5-AF15E445D701}"/>
              </a:ext>
            </a:extLst>
          </p:cNvPr>
          <p:cNvSpPr txBox="1"/>
          <p:nvPr/>
        </p:nvSpPr>
        <p:spPr>
          <a:xfrm>
            <a:off x="1016000" y="3263900"/>
            <a:ext cx="5740400" cy="1215717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US" sz="1300" b="1">
                <a:solidFill>
                  <a:srgbClr val="38BDF8"/>
                </a:solidFill>
                <a:latin typeface="Segoe UI" panose="020B0502040204020203" pitchFamily="34" charset="0"/>
              </a:rPr>
              <a:t>SYSTEM CAPABILITIES AT A GLANCE
</a:t>
            </a:r>
            <a:r>
              <a:rPr lang="en-US" sz="1050" b="1">
                <a:solidFill>
                  <a:srgbClr val="94A3B8"/>
                </a:solidFill>
                <a:latin typeface="Segoe UI" panose="020B0502040204020203" pitchFamily="34" charset="0"/>
              </a:rPr>
              <a:t>â€¢ Real-Time PPE Compliance: Helmets, Safety Vests, Gloves, Footwear
â€¢ Anonymous Worker Tracking: ByteTrack 8-State Kalman Trajectories
â€¢ Early Hazard Confirmation: Dual-Channel Fire &amp; Smoke Tracking
â€¢ Explainable Risk Governance: 0-100 Deterministic Scoring &amp; Cooldowns
â€¢ Tamper-Evident Evidence: Visual Snapshots with SHA-256 Checksums
â€¢ Live Operations Center: WebSocket Streaming to React 18 SOC Dashboard</a:t>
            </a:r>
            <a:endParaRPr lang="en-IN" sz="1050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F375E3-66BF-4198-78EB-A5D397707299}"/>
              </a:ext>
            </a:extLst>
          </p:cNvPr>
          <p:cNvSpPr/>
          <p:nvPr/>
        </p:nvSpPr>
        <p:spPr>
          <a:xfrm>
            <a:off x="7239000" y="3111500"/>
            <a:ext cx="4318000" cy="29845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70A5BC-3461-0A0B-1B12-1F8BF83E373B}"/>
              </a:ext>
            </a:extLst>
          </p:cNvPr>
          <p:cNvSpPr txBox="1"/>
          <p:nvPr/>
        </p:nvSpPr>
        <p:spPr>
          <a:xfrm>
            <a:off x="7416800" y="3263900"/>
            <a:ext cx="3962400" cy="2185214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10B981"/>
                </a:solidFill>
                <a:latin typeface="Segoe UI" panose="020B0502040204020203" pitchFamily="34" charset="0"/>
              </a:rPr>
              <a:t>PARTICIPATION &amp; TEAM DETAILS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TEAM:
XERSES
ORGANIZERS &amp; SPONSORS:
Software Technology Parks of India (STPI)
EmTek &amp; BPUT Hackathon 2026
CHALLENGE DOMAIN:
PS06 â€” Vision-Based Industrial Safety Gear Compliance
REPOSITORY:
https://github.com/SMRU08/RAKSHYA-VISION.git</a:t>
            </a:r>
          </a:p>
        </p:txBody>
      </p:sp>
    </p:spTree>
    <p:extLst>
      <p:ext uri="{BB962C8B-B14F-4D97-AF65-F5344CB8AC3E}">
        <p14:creationId xmlns:p14="http://schemas.microsoft.com/office/powerpoint/2010/main" val="4158033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C1986B-0E14-B140-5638-4784CCFE4E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A4DDBE-0065-BB6A-F52D-945FEF4923D6}"/>
              </a:ext>
            </a:extLst>
          </p:cNvPr>
          <p:cNvSpPr/>
          <p:nvPr/>
        </p:nvSpPr>
        <p:spPr>
          <a:xfrm>
            <a:off x="635000" y="381000"/>
            <a:ext cx="3556000" cy="30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IN" sz="1000" b="1">
                <a:solidFill>
                  <a:srgbClr val="10B981"/>
                </a:solidFill>
                <a:latin typeface="Segoe UI" panose="020B0502040204020203" pitchFamily="34" charset="0"/>
              </a:rPr>
              <a:t>PROBLEM STATEMENT Â€¢ PS06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954F8D-05CF-C2E1-04DF-26DA337A1451}"/>
              </a:ext>
            </a:extLst>
          </p:cNvPr>
          <p:cNvSpPr txBox="1"/>
          <p:nvPr/>
        </p:nvSpPr>
        <p:spPr>
          <a:xfrm>
            <a:off x="635000" y="736600"/>
            <a:ext cx="10922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8FAFC"/>
                </a:solidFill>
                <a:latin typeface="Segoe UI" panose="020B0502040204020203" pitchFamily="34" charset="0"/>
              </a:rPr>
              <a:t>The Industrial Safety Challenge: Human Monitoring Bottlenecks</a:t>
            </a:r>
            <a:endParaRPr lang="en-IN" sz="24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F80AA3-47BE-E7E8-E52B-6B16BC1924C9}"/>
              </a:ext>
            </a:extLst>
          </p:cNvPr>
          <p:cNvCxnSpPr/>
          <p:nvPr/>
        </p:nvCxnSpPr>
        <p:spPr>
          <a:xfrm>
            <a:off x="635000" y="1295400"/>
            <a:ext cx="1092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895AC6-135C-E935-9E89-C90A6CF150BB}"/>
              </a:ext>
            </a:extLst>
          </p:cNvPr>
          <p:cNvSpPr/>
          <p:nvPr/>
        </p:nvSpPr>
        <p:spPr>
          <a:xfrm>
            <a:off x="635000" y="1524000"/>
            <a:ext cx="2540000" cy="4064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C2081-7A19-C54B-5E39-861E9CC7ECE7}"/>
              </a:ext>
            </a:extLst>
          </p:cNvPr>
          <p:cNvSpPr txBox="1"/>
          <p:nvPr/>
        </p:nvSpPr>
        <p:spPr>
          <a:xfrm>
            <a:off x="812800" y="1676400"/>
            <a:ext cx="2184400" cy="2023631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F59E0B"/>
                </a:solidFill>
                <a:latin typeface="Segoe UI" panose="020B0502040204020203" pitchFamily="34" charset="0"/>
              </a:rPr>
              <a:t>1. OBSERVER FATIGUE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Perceptual Vigilance Decay:
Human safety officers monitoring multiple continuous CCTV camera feeds experience steep cognitive fatigue within 20-30 minutes.
Subtle compliance lapses and partial equipment omissions regularly go unnoticed during peak operations.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30C4A7-F70A-4BF1-90A0-32ADC73239C3}"/>
              </a:ext>
            </a:extLst>
          </p:cNvPr>
          <p:cNvSpPr/>
          <p:nvPr/>
        </p:nvSpPr>
        <p:spPr>
          <a:xfrm>
            <a:off x="3429000" y="1524000"/>
            <a:ext cx="2540000" cy="4064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21A67F-4050-E08F-C348-37D72C8789A3}"/>
              </a:ext>
            </a:extLst>
          </p:cNvPr>
          <p:cNvSpPr txBox="1"/>
          <p:nvPr/>
        </p:nvSpPr>
        <p:spPr>
          <a:xfrm>
            <a:off x="3606800" y="1676400"/>
            <a:ext cx="2184400" cy="1862048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EF4444"/>
                </a:solidFill>
                <a:latin typeface="Segoe UI" panose="020B0502040204020203" pitchFamily="34" charset="0"/>
              </a:rPr>
              <a:t>2. DETECTION DELAYS
</a:t>
            </a:r>
            <a:r>
              <a:rPr lang="en-US" sz="1050" b="1">
                <a:solidFill>
                  <a:srgbClr val="94A3B8"/>
                </a:solidFill>
                <a:latin typeface="Segoe UI" panose="020B0502040204020203" pitchFamily="34" charset="0"/>
              </a:rPr>
              <a:t>Delayed Emergency Triggers:
Traditional localized smoke detectors and manual pull stations activate only after fire and smoke have propagated significantly.
Crucial initial developmental seconds are lost before emergency intervention can begin.</a:t>
            </a:r>
            <a:endParaRPr lang="en-IN" sz="1050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B55F17-D06F-690B-9925-FEED13617676}"/>
              </a:ext>
            </a:extLst>
          </p:cNvPr>
          <p:cNvSpPr/>
          <p:nvPr/>
        </p:nvSpPr>
        <p:spPr>
          <a:xfrm>
            <a:off x="6223000" y="1524000"/>
            <a:ext cx="2540000" cy="4064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F7C3C3-2927-6A69-B0BE-9BDD33D61490}"/>
              </a:ext>
            </a:extLst>
          </p:cNvPr>
          <p:cNvSpPr txBox="1"/>
          <p:nvPr/>
        </p:nvSpPr>
        <p:spPr>
          <a:xfrm>
            <a:off x="6400800" y="1676400"/>
            <a:ext cx="2184400" cy="1862048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F59E0B"/>
                </a:solidFill>
                <a:latin typeface="Segoe UI" panose="020B0502040204020203" pitchFamily="34" charset="0"/>
              </a:rPr>
              <a:t>3. SPOT-CHECK BLINDNESS
</a:t>
            </a:r>
            <a:r>
              <a:rPr lang="en-US" sz="1050" b="1">
                <a:solidFill>
                  <a:srgbClr val="94A3B8"/>
                </a:solidFill>
                <a:latin typeface="Segoe UI" panose="020B0502040204020203" pitchFamily="34" charset="0"/>
              </a:rPr>
              <a:t>Intermittent Enforcement:
Manual safety walkthroughs provide only snapshot spot-checks.
Workers remove required helmets or vests immediately after officers leave, creating prolonged periods of unmonitored exposure.</a:t>
            </a:r>
            <a:endParaRPr lang="en-IN" sz="1050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158556-1493-2B4D-6E6D-C9E0FA6A83B2}"/>
              </a:ext>
            </a:extLst>
          </p:cNvPr>
          <p:cNvSpPr/>
          <p:nvPr/>
        </p:nvSpPr>
        <p:spPr>
          <a:xfrm>
            <a:off x="9017000" y="1524000"/>
            <a:ext cx="2540000" cy="4064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483BC7-7951-890A-DF99-9CB9ACE3FC64}"/>
              </a:ext>
            </a:extLst>
          </p:cNvPr>
          <p:cNvSpPr txBox="1"/>
          <p:nvPr/>
        </p:nvSpPr>
        <p:spPr>
          <a:xfrm>
            <a:off x="9194800" y="1676400"/>
            <a:ext cx="2184400" cy="1862048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38BDF8"/>
                </a:solidFill>
                <a:latin typeface="Segoe UI" panose="020B0502040204020203" pitchFamily="34" charset="0"/>
              </a:rPr>
              <a:t>4. AUDIT DISPUTES
</a:t>
            </a:r>
            <a:r>
              <a:rPr lang="en-US" sz="1050" b="1">
                <a:solidFill>
                  <a:srgbClr val="94A3B8"/>
                </a:solidFill>
                <a:latin typeface="Segoe UI" panose="020B0502040204020203" pitchFamily="34" charset="0"/>
              </a:rPr>
              <a:t>Lack of Verified Evidence:
Workplace safety audits and incident post-mortems frequently lack verifiable visual context.
Unverified timestamps, absent video logs, and missing evidence lead to contested liability and unaddressed hazards.</a:t>
            </a:r>
            <a:endParaRPr lang="en-IN" sz="1050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0BB3D7-31E6-396B-2A79-20E94BCAC951}"/>
              </a:ext>
            </a:extLst>
          </p:cNvPr>
          <p:cNvSpPr/>
          <p:nvPr/>
        </p:nvSpPr>
        <p:spPr>
          <a:xfrm>
            <a:off x="635000" y="5778500"/>
            <a:ext cx="10922000" cy="6985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E4026F-C323-5FA7-8D39-CECCACAB9839}"/>
              </a:ext>
            </a:extLst>
          </p:cNvPr>
          <p:cNvSpPr txBox="1"/>
          <p:nvPr/>
        </p:nvSpPr>
        <p:spPr>
          <a:xfrm>
            <a:off x="812800" y="59309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CORE PROBLEM: Traditional monitoring is reactive, intermittent, and vulnerable to human fatigue. High-hazard workplaces demand continuous, automated, edge-intelligent oversight.</a:t>
            </a:r>
            <a:endParaRPr lang="en-IN" sz="10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127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EFF92D-BBBD-A435-1311-1FD402C99F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1F4A3A-BBA9-DB3A-D532-0AE6DA07D025}"/>
              </a:ext>
            </a:extLst>
          </p:cNvPr>
          <p:cNvSpPr/>
          <p:nvPr/>
        </p:nvSpPr>
        <p:spPr>
          <a:xfrm>
            <a:off x="635000" y="381000"/>
            <a:ext cx="3556000" cy="30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IN" sz="1000" b="1">
                <a:solidFill>
                  <a:srgbClr val="10B981"/>
                </a:solidFill>
                <a:latin typeface="Segoe UI" panose="020B0502040204020203" pitchFamily="34" charset="0"/>
              </a:rPr>
              <a:t>SYSTEM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1EBAE4-30D1-C957-7076-A3CB353847BC}"/>
              </a:ext>
            </a:extLst>
          </p:cNvPr>
          <p:cNvSpPr txBox="1"/>
          <p:nvPr/>
        </p:nvSpPr>
        <p:spPr>
          <a:xfrm>
            <a:off x="635000" y="736600"/>
            <a:ext cx="10922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8FAFC"/>
                </a:solidFill>
                <a:latin typeface="Segoe UI" panose="020B0502040204020203" pitchFamily="34" charset="0"/>
              </a:rPr>
              <a:t>RAKSHYA VISION: Continuous, Edge-Intelligent Safety Governance</a:t>
            </a:r>
            <a:endParaRPr lang="en-IN" sz="24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DA9263-9DCF-2C54-65E3-BEC994838D18}"/>
              </a:ext>
            </a:extLst>
          </p:cNvPr>
          <p:cNvCxnSpPr/>
          <p:nvPr/>
        </p:nvCxnSpPr>
        <p:spPr>
          <a:xfrm>
            <a:off x="635000" y="1295400"/>
            <a:ext cx="1092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BD2C08-6711-F158-1567-8AA51DE6305D}"/>
              </a:ext>
            </a:extLst>
          </p:cNvPr>
          <p:cNvSpPr/>
          <p:nvPr/>
        </p:nvSpPr>
        <p:spPr>
          <a:xfrm>
            <a:off x="635000" y="1524000"/>
            <a:ext cx="3429000" cy="3175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E77BF8-0338-5BDA-791A-17BF723D9130}"/>
              </a:ext>
            </a:extLst>
          </p:cNvPr>
          <p:cNvSpPr txBox="1"/>
          <p:nvPr/>
        </p:nvSpPr>
        <p:spPr>
          <a:xfrm>
            <a:off x="812800" y="1676400"/>
            <a:ext cx="3073400" cy="2023631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38BDF8"/>
                </a:solidFill>
                <a:latin typeface="Segoe UI" panose="020B0502040204020203" pitchFamily="34" charset="0"/>
              </a:rPr>
              <a:t>DECOUPLED VISION PIPELINE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Multi-Stage Safety Architecture:
â€¢ Neural Object Detection identifies physical objects (person, helmet, vest, etc.).
â€¢ Spatial Anatomical Association maps items to specific body regions.
â€¢ Multi-Frame Temporal Validation confirms persistence before alerting.
Result: Completely eliminates noisy false alarms from bare heads or reflections.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29B2EF-0D32-AF68-E7CD-5980BCD11FCE}"/>
              </a:ext>
            </a:extLst>
          </p:cNvPr>
          <p:cNvSpPr/>
          <p:nvPr/>
        </p:nvSpPr>
        <p:spPr>
          <a:xfrm>
            <a:off x="4381500" y="1524000"/>
            <a:ext cx="3429000" cy="3175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5641CE-AC5C-F4B9-F4FA-9C14A911A236}"/>
              </a:ext>
            </a:extLst>
          </p:cNvPr>
          <p:cNvSpPr txBox="1"/>
          <p:nvPr/>
        </p:nvSpPr>
        <p:spPr>
          <a:xfrm>
            <a:off x="4559300" y="1676400"/>
            <a:ext cx="3073400" cy="2023631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10B981"/>
                </a:solidFill>
                <a:latin typeface="Segoe UI" panose="020B0502040204020203" pitchFamily="34" charset="0"/>
              </a:rPr>
              <a:t>ZERO-BIOMETRIC PRIVACY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Anonymous Worker Tracking:
â€¢ Tracks workers across frames using ByteTrack and 8-state Kalman filters.
â€¢ Assigns temporary, anonymous integer track IDs (Track #101, Track #102).
â€¢ Zero facial recognition, zero biometric capture, and zero PII stored.
Result: Full regulatory privacy compliance without worker surveillance pushback.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04C0F4-F70A-FB78-3360-63008BE7230A}"/>
              </a:ext>
            </a:extLst>
          </p:cNvPr>
          <p:cNvSpPr/>
          <p:nvPr/>
        </p:nvSpPr>
        <p:spPr>
          <a:xfrm>
            <a:off x="8128000" y="1524000"/>
            <a:ext cx="3429000" cy="3175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F1B242-4837-6C47-57EE-93287C2C57A5}"/>
              </a:ext>
            </a:extLst>
          </p:cNvPr>
          <p:cNvSpPr txBox="1"/>
          <p:nvPr/>
        </p:nvSpPr>
        <p:spPr>
          <a:xfrm>
            <a:off x="8305800" y="1676400"/>
            <a:ext cx="3073400" cy="2185214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F59E0B"/>
                </a:solidFill>
                <a:latin typeface="Segoe UI" panose="020B0502040204020203" pitchFamily="34" charset="0"/>
              </a:rPr>
              <a:t>AMBIGUITY INVARIANT
</a:t>
            </a:r>
            <a:r>
              <a:rPr lang="en-US" sz="1050" b="1">
                <a:solidFill>
                  <a:srgbClr val="94A3B8"/>
                </a:solidFill>
                <a:latin typeface="Segoe UI" panose="020B0502040204020203" pitchFamily="34" charset="0"/>
              </a:rPr>
              <a:t>Strict UNKNOWN != VIOLATION Rule:
â€¢ Boundary clipping, partial machine obstruction, and camera angles place items in UNKNOWN state.
â€¢ UNKNOWN states STRICTLY NEVER trigger safety violations or alarms.
â€¢ Alerts require verified absence over consecutive confirmation frames.
Result: Trustworthy operator notifications without alert fatigue.</a:t>
            </a:r>
            <a:endParaRPr lang="en-IN" sz="1050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BA023CE-ABC8-651E-F6ED-F5E2699021F5}"/>
              </a:ext>
            </a:extLst>
          </p:cNvPr>
          <p:cNvSpPr/>
          <p:nvPr/>
        </p:nvSpPr>
        <p:spPr>
          <a:xfrm>
            <a:off x="635000" y="4889500"/>
            <a:ext cx="2540000" cy="1524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8D7ABE-45FF-B474-C6E2-21DBC19C6E35}"/>
              </a:ext>
            </a:extLst>
          </p:cNvPr>
          <p:cNvSpPr txBox="1"/>
          <p:nvPr/>
        </p:nvSpPr>
        <p:spPr>
          <a:xfrm>
            <a:off x="762000" y="5016500"/>
            <a:ext cx="2286000" cy="81560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2800" b="1">
                <a:solidFill>
                  <a:srgbClr val="10B981"/>
                </a:solidFill>
                <a:latin typeface="Segoe UI" panose="020B0502040204020203" pitchFamily="34" charset="0"/>
              </a:rPr>
              <a:t>7 Classes
</a:t>
            </a:r>
            <a:r>
              <a:rPr lang="en-IN" sz="1100" b="1">
                <a:solidFill>
                  <a:srgbClr val="F8FAFC"/>
                </a:solidFill>
                <a:latin typeface="Segoe UI" panose="020B0502040204020203" pitchFamily="34" charset="0"/>
              </a:rPr>
              <a:t>Unified Safety Ontology
</a:t>
            </a:r>
            <a:r>
              <a:rPr lang="en-IN" sz="950" b="1">
                <a:solidFill>
                  <a:srgbClr val="94A3B8"/>
                </a:solidFill>
                <a:latin typeface="Segoe UI" panose="020B0502040204020203" pitchFamily="34" charset="0"/>
              </a:rPr>
              <a:t>Person, PPE, Fire, Smoke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6989F1B-4470-1AA9-07EF-A8C42C7E7C18}"/>
              </a:ext>
            </a:extLst>
          </p:cNvPr>
          <p:cNvSpPr/>
          <p:nvPr/>
        </p:nvSpPr>
        <p:spPr>
          <a:xfrm>
            <a:off x="3429000" y="4889500"/>
            <a:ext cx="2540000" cy="1524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53C01F-7B02-A372-9A72-343D3FB40ED8}"/>
              </a:ext>
            </a:extLst>
          </p:cNvPr>
          <p:cNvSpPr txBox="1"/>
          <p:nvPr/>
        </p:nvSpPr>
        <p:spPr>
          <a:xfrm>
            <a:off x="3556000" y="5016500"/>
            <a:ext cx="2286000" cy="81560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2800" b="1">
                <a:solidFill>
                  <a:srgbClr val="38BDF8"/>
                </a:solidFill>
                <a:latin typeface="Segoe UI" panose="020B0502040204020203" pitchFamily="34" charset="0"/>
              </a:rPr>
              <a:t>45.5 ms
</a:t>
            </a:r>
            <a:r>
              <a:rPr lang="en-IN" sz="1100" b="1">
                <a:solidFill>
                  <a:srgbClr val="F8FAFC"/>
                </a:solidFill>
                <a:latin typeface="Segoe UI" panose="020B0502040204020203" pitchFamily="34" charset="0"/>
              </a:rPr>
              <a:t>Mean Pipeline Latency
</a:t>
            </a:r>
            <a:r>
              <a:rPr lang="en-US" sz="950" b="1">
                <a:solidFill>
                  <a:srgbClr val="94A3B8"/>
                </a:solidFill>
                <a:latin typeface="Segoe UI" panose="020B0502040204020203" pitchFamily="34" charset="0"/>
              </a:rPr>
              <a:t>~22-24 FPS on CPU Hardware</a:t>
            </a:r>
            <a:endParaRPr lang="en-IN" sz="950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EAC578-17D0-BEC7-0CFD-EC3835170B43}"/>
              </a:ext>
            </a:extLst>
          </p:cNvPr>
          <p:cNvSpPr/>
          <p:nvPr/>
        </p:nvSpPr>
        <p:spPr>
          <a:xfrm>
            <a:off x="6223000" y="4889500"/>
            <a:ext cx="2540000" cy="1524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0DA140-6778-6DC2-1543-6A3F882A51ED}"/>
              </a:ext>
            </a:extLst>
          </p:cNvPr>
          <p:cNvSpPr txBox="1"/>
          <p:nvPr/>
        </p:nvSpPr>
        <p:spPr>
          <a:xfrm>
            <a:off x="6350000" y="5016500"/>
            <a:ext cx="2286000" cy="81560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2800" b="1">
                <a:solidFill>
                  <a:srgbClr val="F59E0B"/>
                </a:solidFill>
                <a:latin typeface="Segoe UI" panose="020B0502040204020203" pitchFamily="34" charset="0"/>
              </a:rPr>
              <a:t>N = 3
</a:t>
            </a:r>
            <a:r>
              <a:rPr lang="en-IN" sz="1100" b="1">
                <a:solidFill>
                  <a:srgbClr val="F8FAFC"/>
                </a:solidFill>
                <a:latin typeface="Segoe UI" panose="020B0502040204020203" pitchFamily="34" charset="0"/>
              </a:rPr>
              <a:t>Temporal Persistence
</a:t>
            </a:r>
            <a:r>
              <a:rPr lang="en-IN" sz="950" b="1">
                <a:solidFill>
                  <a:srgbClr val="94A3B8"/>
                </a:solidFill>
                <a:latin typeface="Segoe UI" panose="020B0502040204020203" pitchFamily="34" charset="0"/>
              </a:rPr>
              <a:t>Eliminates 1-frame flickers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70990D7-E064-5E6A-36D3-A06BCAC78EC1}"/>
              </a:ext>
            </a:extLst>
          </p:cNvPr>
          <p:cNvSpPr/>
          <p:nvPr/>
        </p:nvSpPr>
        <p:spPr>
          <a:xfrm>
            <a:off x="9017000" y="4889500"/>
            <a:ext cx="2540000" cy="1524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233548-1F95-66A3-DFFF-E0FCF5DFF546}"/>
              </a:ext>
            </a:extLst>
          </p:cNvPr>
          <p:cNvSpPr txBox="1"/>
          <p:nvPr/>
        </p:nvSpPr>
        <p:spPr>
          <a:xfrm>
            <a:off x="9144000" y="5016500"/>
            <a:ext cx="2286000" cy="81560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2800" b="1">
                <a:solidFill>
                  <a:srgbClr val="10B981"/>
                </a:solidFill>
                <a:latin typeface="Segoe UI" panose="020B0502040204020203" pitchFamily="34" charset="0"/>
              </a:rPr>
              <a:t>SHA-256
</a:t>
            </a:r>
            <a:r>
              <a:rPr lang="en-IN" sz="1100" b="1">
                <a:solidFill>
                  <a:srgbClr val="F8FAFC"/>
                </a:solidFill>
                <a:latin typeface="Segoe UI" panose="020B0502040204020203" pitchFamily="34" charset="0"/>
              </a:rPr>
              <a:t>Tamper-Evident Evidence
</a:t>
            </a:r>
            <a:r>
              <a:rPr lang="en-IN" sz="950" b="1">
                <a:solidFill>
                  <a:srgbClr val="94A3B8"/>
                </a:solidFill>
                <a:latin typeface="Segoe UI" panose="020B0502040204020203" pitchFamily="34" charset="0"/>
              </a:rPr>
              <a:t>Hashed snapshots on write</a:t>
            </a:r>
          </a:p>
        </p:txBody>
      </p:sp>
    </p:spTree>
    <p:extLst>
      <p:ext uri="{BB962C8B-B14F-4D97-AF65-F5344CB8AC3E}">
        <p14:creationId xmlns:p14="http://schemas.microsoft.com/office/powerpoint/2010/main" val="2003833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303BF3-C23A-1248-8B63-932D23EA88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134A47-1B2E-F8E2-CC17-661911CB38D8}"/>
              </a:ext>
            </a:extLst>
          </p:cNvPr>
          <p:cNvSpPr/>
          <p:nvPr/>
        </p:nvSpPr>
        <p:spPr>
          <a:xfrm>
            <a:off x="635000" y="381000"/>
            <a:ext cx="3556000" cy="30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IN" sz="1000" b="1">
                <a:solidFill>
                  <a:srgbClr val="10B981"/>
                </a:solidFill>
                <a:latin typeface="Segoe UI" panose="020B0502040204020203" pitchFamily="34" charset="0"/>
              </a:rPr>
              <a:t>ENGINEERING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13365B-A1A6-1994-89AC-5BE228B16E98}"/>
              </a:ext>
            </a:extLst>
          </p:cNvPr>
          <p:cNvSpPr txBox="1"/>
          <p:nvPr/>
        </p:nvSpPr>
        <p:spPr>
          <a:xfrm>
            <a:off x="635000" y="736600"/>
            <a:ext cx="10922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400" b="1">
                <a:solidFill>
                  <a:srgbClr val="F8FAFC"/>
                </a:solidFill>
                <a:latin typeface="Segoe UI" panose="020B0502040204020203" pitchFamily="34" charset="0"/>
              </a:rPr>
              <a:t>Decoupled Multi-Subsystem Processing Pipeline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50AEE1-DF51-EDB6-5CE3-7ACEFB807AFA}"/>
              </a:ext>
            </a:extLst>
          </p:cNvPr>
          <p:cNvCxnSpPr/>
          <p:nvPr/>
        </p:nvCxnSpPr>
        <p:spPr>
          <a:xfrm>
            <a:off x="635000" y="1295400"/>
            <a:ext cx="1092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819DA2-52A3-5B15-D081-836FD3C46D5B}"/>
              </a:ext>
            </a:extLst>
          </p:cNvPr>
          <p:cNvSpPr/>
          <p:nvPr/>
        </p:nvSpPr>
        <p:spPr>
          <a:xfrm>
            <a:off x="635000" y="1587500"/>
            <a:ext cx="1714500" cy="3429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07A199-93C6-2CF1-B20E-69BE0EB647FF}"/>
              </a:ext>
            </a:extLst>
          </p:cNvPr>
          <p:cNvSpPr txBox="1"/>
          <p:nvPr/>
        </p:nvSpPr>
        <p:spPr>
          <a:xfrm>
            <a:off x="812800" y="1739900"/>
            <a:ext cx="1358900" cy="892552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38BDF8"/>
                </a:solidFill>
                <a:latin typeface="Segoe UI" panose="020B0502040204020203" pitchFamily="34" charset="0"/>
              </a:rPr>
              <a:t>1. INGESTION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â€¢ IP/RTSP Cameras
â€¢ USB Webcams
â€¢ Video Files
â€¢ Bounded Backoff</a:t>
            </a: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9AA2DAF9-8CA2-D5F3-EF89-2EE58D027083}"/>
              </a:ext>
            </a:extLst>
          </p:cNvPr>
          <p:cNvSpPr/>
          <p:nvPr/>
        </p:nvSpPr>
        <p:spPr>
          <a:xfrm>
            <a:off x="2374900" y="3175000"/>
            <a:ext cx="177800" cy="228600"/>
          </a:xfrm>
          <a:prstGeom prst="can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67F984-6323-F14F-6B1F-ACB360860F7D}"/>
              </a:ext>
            </a:extLst>
          </p:cNvPr>
          <p:cNvSpPr/>
          <p:nvPr/>
        </p:nvSpPr>
        <p:spPr>
          <a:xfrm>
            <a:off x="2578100" y="1587500"/>
            <a:ext cx="1714500" cy="3429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497BC7-1230-218A-97C8-101679B65F4F}"/>
              </a:ext>
            </a:extLst>
          </p:cNvPr>
          <p:cNvSpPr txBox="1"/>
          <p:nvPr/>
        </p:nvSpPr>
        <p:spPr>
          <a:xfrm>
            <a:off x="2755900" y="1739900"/>
            <a:ext cx="1358900" cy="1377300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10B981"/>
                </a:solidFill>
                <a:latin typeface="Segoe UI" panose="020B0502040204020203" pitchFamily="34" charset="0"/>
              </a:rPr>
              <a:t>2. AI VISION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â€¢ Ultralytics YOLOv8n
â€¢ 7 Canonical Classes
â€¢ 384x384 Input
â€¢ SHA-256 Model Check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2994C651-3705-4FCC-0871-29FF20AFF00D}"/>
              </a:ext>
            </a:extLst>
          </p:cNvPr>
          <p:cNvSpPr/>
          <p:nvPr/>
        </p:nvSpPr>
        <p:spPr>
          <a:xfrm>
            <a:off x="4318000" y="3175000"/>
            <a:ext cx="177800" cy="228600"/>
          </a:xfrm>
          <a:prstGeom prst="can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0A169C-92C9-21C8-2030-BEB8B20A7010}"/>
              </a:ext>
            </a:extLst>
          </p:cNvPr>
          <p:cNvSpPr/>
          <p:nvPr/>
        </p:nvSpPr>
        <p:spPr>
          <a:xfrm>
            <a:off x="4521200" y="1587500"/>
            <a:ext cx="1714500" cy="3429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2540DE-DC07-9883-A97A-839CB55F9923}"/>
              </a:ext>
            </a:extLst>
          </p:cNvPr>
          <p:cNvSpPr txBox="1"/>
          <p:nvPr/>
        </p:nvSpPr>
        <p:spPr>
          <a:xfrm>
            <a:off x="4699000" y="1739900"/>
            <a:ext cx="1358900" cy="1215717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38BDF8"/>
                </a:solidFill>
                <a:latin typeface="Segoe UI" panose="020B0502040204020203" pitchFamily="34" charset="0"/>
              </a:rPr>
              <a:t>3. TRACKING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â€¢ ByteTrack Engine
â€¢ 8-State Kalman Filter
â€¢ Anatomical Associator
â€¢ Head/Torso/Feet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AA6FE029-FC63-5F40-67A1-475DEB5DB3D7}"/>
              </a:ext>
            </a:extLst>
          </p:cNvPr>
          <p:cNvSpPr/>
          <p:nvPr/>
        </p:nvSpPr>
        <p:spPr>
          <a:xfrm>
            <a:off x="6261100" y="3175000"/>
            <a:ext cx="177800" cy="228600"/>
          </a:xfrm>
          <a:prstGeom prst="can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FE69107-C022-2BE0-10A8-33A5CF32CB00}"/>
              </a:ext>
            </a:extLst>
          </p:cNvPr>
          <p:cNvSpPr/>
          <p:nvPr/>
        </p:nvSpPr>
        <p:spPr>
          <a:xfrm>
            <a:off x="6464300" y="1587500"/>
            <a:ext cx="1714500" cy="3429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AE29CC-1671-DAD5-7718-2F98AF0939B2}"/>
              </a:ext>
            </a:extLst>
          </p:cNvPr>
          <p:cNvSpPr txBox="1"/>
          <p:nvPr/>
        </p:nvSpPr>
        <p:spPr>
          <a:xfrm>
            <a:off x="6642100" y="1739900"/>
            <a:ext cx="1358900" cy="1377300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F59E0B"/>
                </a:solidFill>
                <a:latin typeface="Segoe UI" panose="020B0502040204020203" pitchFamily="34" charset="0"/>
              </a:rPr>
              <a:t>4. TEMPORAL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â€¢ N_confirm = 3 (PPE)
â€¢ N_confirm = 5 (Hazard)
â€¢ UNKNOWN Filter
â€¢ Tolerance Window</a:t>
            </a:r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7D10F5CE-4164-5E8C-9CA8-357A0FE60ADE}"/>
              </a:ext>
            </a:extLst>
          </p:cNvPr>
          <p:cNvSpPr/>
          <p:nvPr/>
        </p:nvSpPr>
        <p:spPr>
          <a:xfrm>
            <a:off x="8204200" y="3175000"/>
            <a:ext cx="177800" cy="228600"/>
          </a:xfrm>
          <a:prstGeom prst="can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CE2EC8F-F5D2-71D5-6D23-EC005A7D5ACD}"/>
              </a:ext>
            </a:extLst>
          </p:cNvPr>
          <p:cNvSpPr/>
          <p:nvPr/>
        </p:nvSpPr>
        <p:spPr>
          <a:xfrm>
            <a:off x="8407400" y="1587500"/>
            <a:ext cx="1714500" cy="3429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5844F2-A27F-86D6-BFE5-157DE623C46D}"/>
              </a:ext>
            </a:extLst>
          </p:cNvPr>
          <p:cNvSpPr txBox="1"/>
          <p:nvPr/>
        </p:nvSpPr>
        <p:spPr>
          <a:xfrm>
            <a:off x="8585200" y="1739900"/>
            <a:ext cx="1358900" cy="1215717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EF4444"/>
                </a:solidFill>
                <a:latin typeface="Segoe UI" panose="020B0502040204020203" pitchFamily="34" charset="0"/>
              </a:rPr>
              <a:t>5. GOVERNANCE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â€¢ Risk Engine (0-100)
â€¢ Incident Lifecycle
â€¢ Alert Deduplication
â€¢ 60s Cooldown</a:t>
            </a:r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867C3AA4-BA2C-BEA2-0B5B-1F0A2C1758EE}"/>
              </a:ext>
            </a:extLst>
          </p:cNvPr>
          <p:cNvSpPr/>
          <p:nvPr/>
        </p:nvSpPr>
        <p:spPr>
          <a:xfrm>
            <a:off x="10147300" y="3175000"/>
            <a:ext cx="177800" cy="228600"/>
          </a:xfrm>
          <a:prstGeom prst="can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737FFC4-0955-9CC7-7E0A-B1CC6F1D4245}"/>
              </a:ext>
            </a:extLst>
          </p:cNvPr>
          <p:cNvSpPr/>
          <p:nvPr/>
        </p:nvSpPr>
        <p:spPr>
          <a:xfrm>
            <a:off x="10350500" y="1587500"/>
            <a:ext cx="1714500" cy="3429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E020EF-3005-C057-EB04-07EFD889ABD9}"/>
              </a:ext>
            </a:extLst>
          </p:cNvPr>
          <p:cNvSpPr txBox="1"/>
          <p:nvPr/>
        </p:nvSpPr>
        <p:spPr>
          <a:xfrm>
            <a:off x="10528300" y="1739900"/>
            <a:ext cx="1358900" cy="1215717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10B981"/>
                </a:solidFill>
                <a:latin typeface="Segoe UI" panose="020B0502040204020203" pitchFamily="34" charset="0"/>
              </a:rPr>
              <a:t>6. STORAGE &amp; UI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â€¢ React 18 SOC UI
â€¢ WebSockets Push
â€¢ SQLite WAL DB
â€¢ Evidence Manager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31CA367-7995-B9AD-9BDA-FCF489F68D4D}"/>
              </a:ext>
            </a:extLst>
          </p:cNvPr>
          <p:cNvSpPr/>
          <p:nvPr/>
        </p:nvSpPr>
        <p:spPr>
          <a:xfrm>
            <a:off x="635000" y="5270500"/>
            <a:ext cx="10922000" cy="12065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E65583-8108-06C0-04D3-0C5CD21EA4F9}"/>
              </a:ext>
            </a:extLst>
          </p:cNvPr>
          <p:cNvSpPr txBox="1"/>
          <p:nvPr/>
        </p:nvSpPr>
        <p:spPr>
          <a:xfrm>
            <a:off x="812800" y="5422900"/>
            <a:ext cx="10566400" cy="730969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10B981"/>
                </a:solidFill>
                <a:latin typeface="Segoe UI" panose="020B0502040204020203" pitchFamily="34" charset="0"/>
              </a:rPr>
              <a:t>ARCHITECTURAL FAULT ISOLATION GUARANTEES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â€¢ Complete Worker Isolation: A network drop or decode failure on one camera thread never impacts neighboring streams.
â€¢ Non-Blocking Alert Dispatch: Webhook, Email, and Database writes execute asynchronously on background thread pools.
â€¢ Edge SQLite WAL Mode: High concurrent read/write throughput with a 5,000 ms busy timeout prevents database lock errors.</a:t>
            </a:r>
          </a:p>
        </p:txBody>
      </p:sp>
    </p:spTree>
    <p:extLst>
      <p:ext uri="{BB962C8B-B14F-4D97-AF65-F5344CB8AC3E}">
        <p14:creationId xmlns:p14="http://schemas.microsoft.com/office/powerpoint/2010/main" val="909632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195D0C-3118-D4ED-4A69-0C424A9CC9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52E32C-8CB0-EA2A-004B-0ABA927F1344}"/>
              </a:ext>
            </a:extLst>
          </p:cNvPr>
          <p:cNvSpPr/>
          <p:nvPr/>
        </p:nvSpPr>
        <p:spPr>
          <a:xfrm>
            <a:off x="635000" y="381000"/>
            <a:ext cx="3556000" cy="30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IN" sz="1000" b="1">
                <a:solidFill>
                  <a:srgbClr val="10B981"/>
                </a:solidFill>
                <a:latin typeface="Segoe UI" panose="020B0502040204020203" pitchFamily="34" charset="0"/>
              </a:rPr>
              <a:t>AI &amp; COMPUTER 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108F77-D985-9CDE-1C64-A90CA7867FAE}"/>
              </a:ext>
            </a:extLst>
          </p:cNvPr>
          <p:cNvSpPr txBox="1"/>
          <p:nvPr/>
        </p:nvSpPr>
        <p:spPr>
          <a:xfrm>
            <a:off x="635000" y="736600"/>
            <a:ext cx="10922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400" b="1">
                <a:solidFill>
                  <a:srgbClr val="F8FAFC"/>
                </a:solidFill>
                <a:latin typeface="Segoe UI" panose="020B0502040204020203" pitchFamily="34" charset="0"/>
              </a:rPr>
              <a:t>YOLOv8n Multi-Task Neural Detector &amp; 7-Class Ontology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017F3F-48FC-1B03-F75B-986942600623}"/>
              </a:ext>
            </a:extLst>
          </p:cNvPr>
          <p:cNvCxnSpPr/>
          <p:nvPr/>
        </p:nvCxnSpPr>
        <p:spPr>
          <a:xfrm>
            <a:off x="635000" y="1295400"/>
            <a:ext cx="1092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81B2E2-DEBD-1DDE-A5E2-EAD833E26E32}"/>
              </a:ext>
            </a:extLst>
          </p:cNvPr>
          <p:cNvSpPr/>
          <p:nvPr/>
        </p:nvSpPr>
        <p:spPr>
          <a:xfrm>
            <a:off x="635000" y="1524000"/>
            <a:ext cx="4699000" cy="3048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E13F3D-0B21-D801-46D8-29870418B115}"/>
              </a:ext>
            </a:extLst>
          </p:cNvPr>
          <p:cNvSpPr txBox="1"/>
          <p:nvPr/>
        </p:nvSpPr>
        <p:spPr>
          <a:xfrm>
            <a:off x="812800" y="1676400"/>
            <a:ext cx="4343400" cy="1862048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38BDF8"/>
                </a:solidFill>
                <a:latin typeface="Segoe UI" panose="020B0502040204020203" pitchFamily="34" charset="0"/>
              </a:rPr>
              <a:t>CANONICAL 7-CLASS SAFETY ONTOLOGY
</a:t>
            </a:r>
            <a:r>
              <a:rPr lang="en-US" sz="1050" b="1">
                <a:solidFill>
                  <a:srgbClr val="94A3B8"/>
                </a:solidFill>
                <a:latin typeface="Segoe UI" panose="020B0502040204020203" pitchFamily="34" charset="0"/>
              </a:rPr>
              <a:t>0: person           -&gt; Worker identity &amp; trajectory tracking
1: helmet           -&gt; Head protective equipment
2: safety_vest      -&gt; Torso high-visibility visibility gear
3: gloves           -&gt; Hand mechanical &amp; chemical protection
4: safety_footwear  -&gt; Protective boots &amp; safety shoes
5: fire             -&gt; Open flame &amp; active combustion
6: smoke            -&gt; Visible smoke plume &amp; emissions
Core Rule: Single forward-pass detects positive physical objects only.
Absence is derived through anatomical spatial association.</a:t>
            </a:r>
            <a:endParaRPr lang="en-IN" sz="1050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28275D-FAB6-7974-488F-9C9ED5B237D0}"/>
              </a:ext>
            </a:extLst>
          </p:cNvPr>
          <p:cNvSpPr/>
          <p:nvPr/>
        </p:nvSpPr>
        <p:spPr>
          <a:xfrm>
            <a:off x="635000" y="4762500"/>
            <a:ext cx="4699000" cy="17145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42D1FF-16B5-66EC-A37C-1D35D4766322}"/>
              </a:ext>
            </a:extLst>
          </p:cNvPr>
          <p:cNvSpPr txBox="1"/>
          <p:nvPr/>
        </p:nvSpPr>
        <p:spPr>
          <a:xfrm>
            <a:off x="812800" y="4914900"/>
            <a:ext cx="4343400" cy="1538883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10B981"/>
                </a:solidFill>
                <a:latin typeface="Segoe UI" panose="020B0502040204020203" pitchFamily="34" charset="0"/>
              </a:rPr>
              <a:t>MODEL REGISTRY &amp; VERIFICATION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â€¢ Active Model: ppe_fire_smoke_v2 (Ultralytics YOLOv8n)
â€¢ Resolution: 384 x 384 x 3 RGB | Latency: 32-41 ms (CPU)
â€¢ Checkpoint SHA-256 Checksum:
  490a4867d0c9c848ed38e9d5b196a21f925371e3019079b6b7e30c0a5084b2f3
â€¢ ModelLoader verifies checksum before loading weights into RAM.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769E96-BF2F-E2AD-3F80-601B464D321B}"/>
              </a:ext>
            </a:extLst>
          </p:cNvPr>
          <p:cNvSpPr/>
          <p:nvPr/>
        </p:nvSpPr>
        <p:spPr>
          <a:xfrm>
            <a:off x="5588000" y="1524000"/>
            <a:ext cx="5969000" cy="495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3FB93E-E8D6-66A5-00E0-479971408B3D}"/>
              </a:ext>
            </a:extLst>
          </p:cNvPr>
          <p:cNvSpPr txBox="1"/>
          <p:nvPr/>
        </p:nvSpPr>
        <p:spPr>
          <a:xfrm>
            <a:off x="5778500" y="1625600"/>
            <a:ext cx="558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10B981"/>
                </a:solidFill>
                <a:latin typeface="Segoe UI" panose="020B0502040204020203" pitchFamily="34" charset="0"/>
              </a:rPr>
              <a:t>ACTUAL MODEL VALIDATION PREDICTIONS (VAL BATCH 0)</a:t>
            </a:r>
            <a:endParaRPr lang="en-IN" sz="11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0663B3-5132-A978-4ED1-3CFAAE80176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500" y="1968500"/>
            <a:ext cx="55880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64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9F99C7-7749-3551-DE2F-DD27F6C4D2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DF0925-A648-C37D-7130-C83EC11D2926}"/>
              </a:ext>
            </a:extLst>
          </p:cNvPr>
          <p:cNvSpPr/>
          <p:nvPr/>
        </p:nvSpPr>
        <p:spPr>
          <a:xfrm>
            <a:off x="635000" y="381000"/>
            <a:ext cx="3556000" cy="30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IN" sz="1000" b="1">
                <a:solidFill>
                  <a:srgbClr val="10B981"/>
                </a:solidFill>
                <a:latin typeface="Segoe UI" panose="020B0502040204020203" pitchFamily="34" charset="0"/>
              </a:rPr>
              <a:t>COMPLIANCE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BDECB8-F31A-9E1C-0D9B-45D0BE35AFB1}"/>
              </a:ext>
            </a:extLst>
          </p:cNvPr>
          <p:cNvSpPr txBox="1"/>
          <p:nvPr/>
        </p:nvSpPr>
        <p:spPr>
          <a:xfrm>
            <a:off x="635000" y="736600"/>
            <a:ext cx="10922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400" b="1">
                <a:solidFill>
                  <a:srgbClr val="F8FAFC"/>
                </a:solidFill>
                <a:latin typeface="Segoe UI" panose="020B0502040204020203" pitchFamily="34" charset="0"/>
              </a:rPr>
              <a:t>Anatomical Spatial Association &amp; Multi-Frame Temporal Validation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61AD6C4-2CC5-8DDC-F7F4-4B360B996094}"/>
              </a:ext>
            </a:extLst>
          </p:cNvPr>
          <p:cNvCxnSpPr/>
          <p:nvPr/>
        </p:nvCxnSpPr>
        <p:spPr>
          <a:xfrm>
            <a:off x="635000" y="1295400"/>
            <a:ext cx="1092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6D7598-54FF-8D3F-2647-97E09E4774BF}"/>
              </a:ext>
            </a:extLst>
          </p:cNvPr>
          <p:cNvSpPr/>
          <p:nvPr/>
        </p:nvSpPr>
        <p:spPr>
          <a:xfrm>
            <a:off x="635000" y="1524000"/>
            <a:ext cx="5334000" cy="495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671D35-B28C-303D-9B89-C9C7DD167F7C}"/>
              </a:ext>
            </a:extLst>
          </p:cNvPr>
          <p:cNvSpPr txBox="1"/>
          <p:nvPr/>
        </p:nvSpPr>
        <p:spPr>
          <a:xfrm>
            <a:off x="812800" y="1676400"/>
            <a:ext cx="4978400" cy="3316292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38BDF8"/>
                </a:solidFill>
                <a:latin typeface="Segoe UI" panose="020B0502040204020203" pitchFamily="34" charset="0"/>
              </a:rPr>
              <a:t>ANATOMICAL BODY ZONING MODEL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Anthropometric Spatial Segmentation:
1. HEAD ZONE (Top 0% - 25% of Bounding Box Height)
   â€¢ Target Item: HELMET
   â€¢ Bounding box center must fall within top 25% of worker height.
2. TORSO ZONE (20% - 70% of Bounding Box Height)
   â€¢ Target Item: SAFETY VEST
   â€¢ Requires &gt;= 40% horizontal overlap with worker body.
3. HANDS ZONE (Lateral 40% - 75% Height)
   â€¢ Target Item: GLOVES
4. FEET ZONE (Bottom 75% - 100% Height)
   â€¢ Target Item: SAFETY FOOTWEAR
MUTUAL EXCLUSION GUARANTEE:
When multiple workers overlap, IoU Euclidean distance assigns each PPE item to the nearest anatomical centroid. No double-counting.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5C6BCD-2F8D-BE4F-A23B-4C5CF7CA1E14}"/>
              </a:ext>
            </a:extLst>
          </p:cNvPr>
          <p:cNvSpPr/>
          <p:nvPr/>
        </p:nvSpPr>
        <p:spPr>
          <a:xfrm>
            <a:off x="6223000" y="1524000"/>
            <a:ext cx="5334000" cy="2794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9B2FB0-BA59-C341-ABF7-BBE99436718C}"/>
              </a:ext>
            </a:extLst>
          </p:cNvPr>
          <p:cNvSpPr txBox="1"/>
          <p:nvPr/>
        </p:nvSpPr>
        <p:spPr>
          <a:xfrm>
            <a:off x="6400800" y="1676400"/>
            <a:ext cx="4978400" cy="2346796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10B981"/>
                </a:solidFill>
                <a:latin typeface="Segoe UI" panose="020B0502040204020203" pitchFamily="34" charset="0"/>
              </a:rPr>
              <a:t>TEMPORAL CONFIRMATION &amp; DEBOUNCING
</a:t>
            </a:r>
            <a:r>
              <a:rPr lang="en-US" sz="1050" b="1">
                <a:solidFill>
                  <a:srgbClr val="94A3B8"/>
                </a:solidFill>
                <a:latin typeface="Segoe UI" panose="020B0502040204020203" pitchFamily="34" charset="0"/>
              </a:rPr>
              <a:t>Eliminating False Violation Flickers:
â€¢ N_confirm = 3 Consecutive Frames:
  A worker must be continuously detected without the required PPE item across 3 frames (~100-150 ms) before transitioning to confirmed ABSENT.
â€¢ N_tolerance = 5 Tolerance Frames:
  Once confirmed PRESENT, brief glance-away occlusions up to 5 frames are absorbed without triggering alarms.
â€¢ Multi-Worker Non-Interference:
  Each track maintains independent state machines. Worker A's compliance status never impacts Worker B.</a:t>
            </a:r>
            <a:endParaRPr lang="en-IN" sz="1050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9FFCC1-EA07-8B1B-89B0-2E9851FD7EE2}"/>
              </a:ext>
            </a:extLst>
          </p:cNvPr>
          <p:cNvSpPr/>
          <p:nvPr/>
        </p:nvSpPr>
        <p:spPr>
          <a:xfrm>
            <a:off x="6223000" y="4508500"/>
            <a:ext cx="5334000" cy="19685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77BCC4-0AA2-B6A3-2E07-C9F300A55CF8}"/>
              </a:ext>
            </a:extLst>
          </p:cNvPr>
          <p:cNvSpPr txBox="1"/>
          <p:nvPr/>
        </p:nvSpPr>
        <p:spPr>
          <a:xfrm>
            <a:off x="6400800" y="4660900"/>
            <a:ext cx="4978400" cy="1538883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US" sz="1300" b="1">
                <a:solidFill>
                  <a:srgbClr val="F59E0B"/>
                </a:solidFill>
                <a:latin typeface="Segoe UI" panose="020B0502040204020203" pitchFamily="34" charset="0"/>
              </a:rPr>
              <a:t>CRITICAL SAFETY RULE: UNKNOWN != VIOLATION
</a:t>
            </a:r>
            <a:r>
              <a:rPr lang="en-US" sz="1050" b="1">
                <a:solidFill>
                  <a:srgbClr val="94A3B8"/>
                </a:solidFill>
                <a:latin typeface="Segoe UI" panose="020B0502040204020203" pitchFamily="34" charset="0"/>
              </a:rPr>
              <a:t>Handling Ambiguity &amp; Real-World Obstructions:
â€¢ Boundary Clipping: Worker head/torso intersecting frame edge -&gt; UNKNOWN.
â€¢ Partial Occlusion: Worker standing behind machinery -&gt; UNKNOWN.
â€¢ Normalizer Rule: UNKNOWN states STRICTLY NEVER generate violation events or trigger operator alerts.
â€¢ Dashboard HUD renders UNKNOWN in neutral gray, not alarming red.</a:t>
            </a:r>
            <a:endParaRPr lang="en-IN" sz="1050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350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0EFC44-4F21-D0AD-77C8-19821EB28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5CFC522-0BD8-7F5B-9273-B85A215783DF}"/>
              </a:ext>
            </a:extLst>
          </p:cNvPr>
          <p:cNvSpPr/>
          <p:nvPr/>
        </p:nvSpPr>
        <p:spPr>
          <a:xfrm>
            <a:off x="635000" y="381000"/>
            <a:ext cx="3556000" cy="30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IN" sz="1000" b="1">
                <a:solidFill>
                  <a:srgbClr val="10B981"/>
                </a:solidFill>
                <a:latin typeface="Segoe UI" panose="020B0502040204020203" pitchFamily="34" charset="0"/>
              </a:rPr>
              <a:t>ENVIRONMENTAL HAZARDS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B83090-6C65-EB30-37D9-F42A560B30D7}"/>
              </a:ext>
            </a:extLst>
          </p:cNvPr>
          <p:cNvSpPr txBox="1"/>
          <p:nvPr/>
        </p:nvSpPr>
        <p:spPr>
          <a:xfrm>
            <a:off x="635000" y="736600"/>
            <a:ext cx="10922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400" b="1">
                <a:solidFill>
                  <a:srgbClr val="F8FAFC"/>
                </a:solidFill>
                <a:latin typeface="Segoe UI" panose="020B0502040204020203" pitchFamily="34" charset="0"/>
              </a:rPr>
              <a:t>Dual-Channel Combustion Detection &amp; Multi-Modal Verification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C23E3D-E4BE-BFC2-B06A-C74DB05A93D9}"/>
              </a:ext>
            </a:extLst>
          </p:cNvPr>
          <p:cNvCxnSpPr/>
          <p:nvPr/>
        </p:nvCxnSpPr>
        <p:spPr>
          <a:xfrm>
            <a:off x="635000" y="1295400"/>
            <a:ext cx="1092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E40F8F-752C-2344-6E29-776CA63B220E}"/>
              </a:ext>
            </a:extLst>
          </p:cNvPr>
          <p:cNvSpPr/>
          <p:nvPr/>
        </p:nvSpPr>
        <p:spPr>
          <a:xfrm>
            <a:off x="635000" y="1524000"/>
            <a:ext cx="5334000" cy="3048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39B10-91A9-2B39-5403-A00CAF0B1C59}"/>
              </a:ext>
            </a:extLst>
          </p:cNvPr>
          <p:cNvSpPr txBox="1"/>
          <p:nvPr/>
        </p:nvSpPr>
        <p:spPr>
          <a:xfrm>
            <a:off x="812800" y="1676400"/>
            <a:ext cx="4978400" cy="2023631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EF4444"/>
                </a:solidFill>
                <a:latin typeface="Segoe UI" panose="020B0502040204020203" pitchFamily="34" charset="0"/>
              </a:rPr>
              <a:t>DECOUPLED HAZARD TRACKING ENGINE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Decoupled Multi-Channel Pipeline:
â€¢ Shared Neural Backbone: Detections for fire (class 5) and smoke (class 6) share YOLOv8 feature extraction for CPU efficiency.
â€¢ Dedicated Hazard Tracker: Spatial IoU and centroid distance tracking assigns persistent IDs (HAZARD-0001, HAZARD-0002).
â€¢ Temporal Confirmation (N_confirm = 5 frames):
  Requires 5 consecutive confirmed frames (~150-200 ms) before elevating state from SUSPECTED to CONFIRMED.
â€¢ Transient Suppression: 1-frame welding arcs, flashlight flares, and reflections remain SUSPECTED and emit 0 alarms.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4C0F1F-9C14-DB68-2B49-E648F7F31F3E}"/>
              </a:ext>
            </a:extLst>
          </p:cNvPr>
          <p:cNvSpPr/>
          <p:nvPr/>
        </p:nvSpPr>
        <p:spPr>
          <a:xfrm>
            <a:off x="635000" y="4762500"/>
            <a:ext cx="5334000" cy="17145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D1E530-C8F4-3C10-9477-8CF8758FD693}"/>
              </a:ext>
            </a:extLst>
          </p:cNvPr>
          <p:cNvSpPr txBox="1"/>
          <p:nvPr/>
        </p:nvSpPr>
        <p:spPr>
          <a:xfrm>
            <a:off x="812800" y="4914900"/>
            <a:ext cx="4978400" cy="1538883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F59E0B"/>
                </a:solidFill>
                <a:latin typeface="Segoe UI" panose="020B0502040204020203" pitchFamily="34" charset="0"/>
              </a:rPr>
              <a:t>FALSE POSITIVE MITIGATION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Industrial Environment Hardening:
â€¢ Boiler Steam &amp; Exhausts: High-density condensation resembles smoke. Mitigated via configurable polygon ROI exclusion masks (roi_polygons).
â€¢ Amber Warning Beacons: Model fine-tuned against yellow/orange forklift lights to suppress strobe false positives.
â€¢ Clearing State Machine: Requires 10 consecutive clear frames to verify hazard suppression.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72718B-E2B7-B040-3F69-160D1567507F}"/>
              </a:ext>
            </a:extLst>
          </p:cNvPr>
          <p:cNvSpPr/>
          <p:nvPr/>
        </p:nvSpPr>
        <p:spPr>
          <a:xfrm>
            <a:off x="6223000" y="1524000"/>
            <a:ext cx="5334000" cy="495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96FF12-8EBD-B2BE-F081-09425F6BF70F}"/>
              </a:ext>
            </a:extLst>
          </p:cNvPr>
          <p:cNvSpPr txBox="1"/>
          <p:nvPr/>
        </p:nvSpPr>
        <p:spPr>
          <a:xfrm>
            <a:off x="6400800" y="1676400"/>
            <a:ext cx="4978400" cy="2993127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EF4444"/>
                </a:solidFill>
                <a:latin typeface="Segoe UI" panose="020B0502040204020203" pitchFamily="34" charset="0"/>
              </a:rPr>
              <a:t>MULTI-MODAL HAZARD RELATIONSHIP MODES
</a:t>
            </a:r>
            <a:r>
              <a:rPr lang="en-US" sz="1050" b="1">
                <a:solidFill>
                  <a:srgbClr val="94A3B8"/>
                </a:solidFill>
                <a:latin typeface="Segoe UI" panose="020B0502040204020203" pitchFamily="34" charset="0"/>
              </a:rPr>
              <a:t>The engine continuously assesses co-occurrence and spatial overlap:
1. FIRE_AND_SMOKE (CRITICAL SEVERITY)
   â€¢ Simultaneous flame and plume detection in shared zone.
   â€¢ Indicates high-intensity active combustion with atmospheric spread.
   â€¢ Triggers full-screen visual alarms, sirens, and immediate dispatches.
2. FIRE_ONLY (HIGH SEVERITY)
   â€¢ Confirmed flame without visible smoke.
   â€¢ Early flare, electrical arc, or clean-burning fuel combustion.
3. SMOKE_ONLY (HIGH SEVERITY)
   â€¢ Confirmed smoke plume without visible flame.
   â€¢ Smoldering materials, thermal decomposition, or concealed fire.
4. NO_HAZARD (NORMAL OPERATIONAL BASELINE)
   â€¢ Zero combustion signatures detected.</a:t>
            </a:r>
            <a:endParaRPr lang="en-IN" sz="1050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876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733E1D-F976-4F4C-7527-C0783A309A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3791A4-1373-EE22-B81B-84423574044E}"/>
              </a:ext>
            </a:extLst>
          </p:cNvPr>
          <p:cNvSpPr/>
          <p:nvPr/>
        </p:nvSpPr>
        <p:spPr>
          <a:xfrm>
            <a:off x="635000" y="381000"/>
            <a:ext cx="3556000" cy="30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IN" sz="1000" b="1">
                <a:solidFill>
                  <a:srgbClr val="10B981"/>
                </a:solidFill>
                <a:latin typeface="Segoe UI" panose="020B0502040204020203" pitchFamily="34" charset="0"/>
              </a:rPr>
              <a:t>OPERATIONS 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2CCE4-0A99-5665-CD91-820D150FA5BA}"/>
              </a:ext>
            </a:extLst>
          </p:cNvPr>
          <p:cNvSpPr txBox="1"/>
          <p:nvPr/>
        </p:nvSpPr>
        <p:spPr>
          <a:xfrm>
            <a:off x="635000" y="736600"/>
            <a:ext cx="10922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8FAFC"/>
                </a:solidFill>
                <a:latin typeface="Segoe UI" panose="020B0502040204020203" pitchFamily="34" charset="0"/>
              </a:rPr>
              <a:t>Web-Based Real-Time Security Operations Center (SOC) Dashboard</a:t>
            </a:r>
            <a:endParaRPr lang="en-IN" sz="24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7095F2-9504-0961-688A-F3524C24C1A6}"/>
              </a:ext>
            </a:extLst>
          </p:cNvPr>
          <p:cNvCxnSpPr/>
          <p:nvPr/>
        </p:nvCxnSpPr>
        <p:spPr>
          <a:xfrm>
            <a:off x="635000" y="1295400"/>
            <a:ext cx="1092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CF19EA2-DB3B-386B-8545-20851EB52B43}"/>
              </a:ext>
            </a:extLst>
          </p:cNvPr>
          <p:cNvSpPr/>
          <p:nvPr/>
        </p:nvSpPr>
        <p:spPr>
          <a:xfrm>
            <a:off x="635000" y="1524000"/>
            <a:ext cx="53340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97E2C3-3AE0-8E77-C12D-06D78FEDCF91}"/>
              </a:ext>
            </a:extLst>
          </p:cNvPr>
          <p:cNvSpPr txBox="1"/>
          <p:nvPr/>
        </p:nvSpPr>
        <p:spPr>
          <a:xfrm>
            <a:off x="812800" y="1676400"/>
            <a:ext cx="4978400" cy="1215717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38BDF8"/>
                </a:solidFill>
                <a:latin typeface="Segoe UI" panose="020B0502040204020203" pitchFamily="34" charset="0"/>
              </a:rPr>
              <a:t>MULTI-CAMERA MONITORING GRID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Real-Time Stream Inspection:
â€¢ Responsive multi-camera tile grid supporting RTSP, USB, and file streams.
â€¢ Live annotated snapshot stream delivering bounding boxes, track IDs, and compliance badges.
â€¢ Live telemetry display: Rolling FPS, dropped frames, and inference latency in milliseconds.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E7000E-73D0-6451-7D2D-B0CD55455376}"/>
              </a:ext>
            </a:extLst>
          </p:cNvPr>
          <p:cNvSpPr/>
          <p:nvPr/>
        </p:nvSpPr>
        <p:spPr>
          <a:xfrm>
            <a:off x="635000" y="4000500"/>
            <a:ext cx="5334000" cy="24765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91350F-9C6B-D1BC-A414-BEDE038D089F}"/>
              </a:ext>
            </a:extLst>
          </p:cNvPr>
          <p:cNvSpPr txBox="1"/>
          <p:nvPr/>
        </p:nvSpPr>
        <p:spPr>
          <a:xfrm>
            <a:off x="812800" y="4152900"/>
            <a:ext cx="4978400" cy="1377300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10B981"/>
                </a:solidFill>
                <a:latin typeface="Segoe UI" panose="020B0502040204020203" pitchFamily="34" charset="0"/>
              </a:rPr>
              <a:t>WORKER CHECKLIST HUD &amp; HAZARD OVERLAYS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Live Operator Feedback:
â€¢ Checklist HUD above workers: Individual badges for Helmet, Vest, Gloves, and Footwear.
â€¢ Color-Coded States: Green (PRESENT), Red (ABSENT), Gray (UNKNOWN).
â€¢ Thermal/Smoke indicators displaying active hazard relationships.
â€¢ Zero Fabricated Data: Every tile, card, and metric binds to real database records.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4CDBBC-EBBC-4760-9E13-43C129F8FE2B}"/>
              </a:ext>
            </a:extLst>
          </p:cNvPr>
          <p:cNvSpPr/>
          <p:nvPr/>
        </p:nvSpPr>
        <p:spPr>
          <a:xfrm>
            <a:off x="6223000" y="1524000"/>
            <a:ext cx="53340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8E6105-6187-E192-CCF3-F53AA67AF642}"/>
              </a:ext>
            </a:extLst>
          </p:cNvPr>
          <p:cNvSpPr txBox="1"/>
          <p:nvPr/>
        </p:nvSpPr>
        <p:spPr>
          <a:xfrm>
            <a:off x="6400800" y="1676400"/>
            <a:ext cx="4978400" cy="1054135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10B981"/>
                </a:solidFill>
                <a:latin typeface="Segoe UI" panose="020B0502040204020203" pitchFamily="34" charset="0"/>
              </a:rPr>
              <a:t>BI-DIRECTIONAL WEBSOCKET STREAMING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Instant Incident Dispatch:
â€¢ Mounted at /ws/alerts and /ws/events for sub-100 ms event push.
â€¢ EventBroadcaster pub/sub distribution to connected dashboard clients.
â€¢ Bi-directional heartbeat ping/pong protocol maintains socket liveness.
â€¢ Automatic client disconnect cleanup and reconnection backoff.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B0F96E-30DA-4B18-81B4-E06B544CD134}"/>
              </a:ext>
            </a:extLst>
          </p:cNvPr>
          <p:cNvSpPr/>
          <p:nvPr/>
        </p:nvSpPr>
        <p:spPr>
          <a:xfrm>
            <a:off x="6223000" y="4000500"/>
            <a:ext cx="5334000" cy="24765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EF993B-D1E1-71FF-62CD-9702DFDC231D}"/>
              </a:ext>
            </a:extLst>
          </p:cNvPr>
          <p:cNvSpPr txBox="1"/>
          <p:nvPr/>
        </p:nvSpPr>
        <p:spPr>
          <a:xfrm>
            <a:off x="6400800" y="4152900"/>
            <a:ext cx="4978400" cy="1215717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F59E0B"/>
                </a:solidFill>
                <a:latin typeface="Segoe UI" panose="020B0502040204020203" pitchFamily="34" charset="0"/>
              </a:rPr>
              <a:t>OPERATOR INCIDENT ACTION TRIGGERS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Human-in-the-Loop Governance:
â€¢ Immediate action controls directly from incident queue cards.
â€¢ Acknowledge: Operator accepts incident, halting visual alarms.
â€¢ Resolve: Closes incident with mandatory resolution notes.
â€¢ Dismiss: Records justified exception in immutable audit trail.
â€¢ Full RBAC integration: VIEWER, OPERATOR, and ADMIN access tiers.</a:t>
            </a:r>
          </a:p>
        </p:txBody>
      </p:sp>
    </p:spTree>
    <p:extLst>
      <p:ext uri="{BB962C8B-B14F-4D97-AF65-F5344CB8AC3E}">
        <p14:creationId xmlns:p14="http://schemas.microsoft.com/office/powerpoint/2010/main" val="429289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A17AE8-D289-BA1F-F92D-4D63B9671C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8FAD55B-9A9B-A513-7409-94FDA7D8A6E1}"/>
              </a:ext>
            </a:extLst>
          </p:cNvPr>
          <p:cNvSpPr/>
          <p:nvPr/>
        </p:nvSpPr>
        <p:spPr>
          <a:xfrm>
            <a:off x="635000" y="381000"/>
            <a:ext cx="3556000" cy="30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IN" sz="1000" b="1">
                <a:solidFill>
                  <a:srgbClr val="10B981"/>
                </a:solidFill>
                <a:latin typeface="Segoe UI" panose="020B0502040204020203" pitchFamily="34" charset="0"/>
              </a:rPr>
              <a:t>GOVERNANCE &amp; EVIDENCE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48A43F-63C7-53F5-2017-28CB6BC8AFD9}"/>
              </a:ext>
            </a:extLst>
          </p:cNvPr>
          <p:cNvSpPr txBox="1"/>
          <p:nvPr/>
        </p:nvSpPr>
        <p:spPr>
          <a:xfrm>
            <a:off x="635000" y="736600"/>
            <a:ext cx="10922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8FAFC"/>
                </a:solidFill>
                <a:latin typeface="Segoe UI" panose="020B0502040204020203" pitchFamily="34" charset="0"/>
              </a:rPr>
              <a:t>Explainable Risk Scoring, Smart Cooldowns &amp; Tamper-Evident Evidence</a:t>
            </a:r>
            <a:endParaRPr lang="en-IN" sz="24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FBFF64-8072-2275-0C50-04A14E7DF1E0}"/>
              </a:ext>
            </a:extLst>
          </p:cNvPr>
          <p:cNvCxnSpPr/>
          <p:nvPr/>
        </p:nvCxnSpPr>
        <p:spPr>
          <a:xfrm>
            <a:off x="635000" y="1295400"/>
            <a:ext cx="1092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53BA35-1E1D-7FE7-A3F8-ECC35610BB5E}"/>
              </a:ext>
            </a:extLst>
          </p:cNvPr>
          <p:cNvSpPr/>
          <p:nvPr/>
        </p:nvSpPr>
        <p:spPr>
          <a:xfrm>
            <a:off x="635000" y="1524000"/>
            <a:ext cx="5334000" cy="2794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65775D-67EF-54B8-6052-D627CBEF4391}"/>
              </a:ext>
            </a:extLst>
          </p:cNvPr>
          <p:cNvSpPr txBox="1"/>
          <p:nvPr/>
        </p:nvSpPr>
        <p:spPr>
          <a:xfrm>
            <a:off x="812800" y="1676400"/>
            <a:ext cx="4978400" cy="2185214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38BDF8"/>
                </a:solidFill>
                <a:latin typeface="Segoe UI" panose="020B0502040204020203" pitchFamily="34" charset="0"/>
              </a:rPr>
              <a:t>EXPLAINABLE RISK SCORING FORMULA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Deterministic 0 - 100 Mathematical Scoring:
Score = clamp((BaseSeverity + Persistence + Density + Recurrence) * ZoneMultiplier, 0, 100)
â€¢ Base Severity: Missing Helmet (+30), Vest (+25), Smoke (+70), Fire (+90)
â€¢ Persistence Factor: +0.5 points per second of violation (capped at +20)
â€¢ Worker Density: +5 points per additional worker exposed
â€¢ Zone Multiplier: Hazardous zones scaled from 1.1x to 1.8x
Tiers: LOW (0-29) â€¢ MEDIUM (30-59) â€¢ HIGH (60-84) â€¢ CRITICAL (85-100)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D7B076-AC2B-DC25-4D5E-99BD59601E19}"/>
              </a:ext>
            </a:extLst>
          </p:cNvPr>
          <p:cNvSpPr/>
          <p:nvPr/>
        </p:nvSpPr>
        <p:spPr>
          <a:xfrm>
            <a:off x="635000" y="4508500"/>
            <a:ext cx="5334000" cy="19685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A5633A-40B6-6AF8-8712-CB356C34F55D}"/>
              </a:ext>
            </a:extLst>
          </p:cNvPr>
          <p:cNvSpPr txBox="1"/>
          <p:nvPr/>
        </p:nvSpPr>
        <p:spPr>
          <a:xfrm>
            <a:off x="812800" y="4660900"/>
            <a:ext cx="4978400" cy="1377300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F59E0B"/>
                </a:solidFill>
                <a:latin typeface="Segoe UI" panose="020B0502040204020203" pitchFamily="34" charset="0"/>
              </a:rPr>
              <a:t>SMART ALERT ENGINE &amp; COOLDOWNS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Anti-Flood Deduplication:
â€¢ Deduplication: Aggregates repeated violations from same worker into single OPEN incident.
â€¢ 60-Second Cooldown: Suppresses repetitive alert notifications during ongoing violations.
â€¢ Automatic Escalation: Sustained violations unaddressed for &gt; 120s escalate in severity tier.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5FF8CA-23C8-CE37-DE12-AF0A3E03B2CA}"/>
              </a:ext>
            </a:extLst>
          </p:cNvPr>
          <p:cNvSpPr/>
          <p:nvPr/>
        </p:nvSpPr>
        <p:spPr>
          <a:xfrm>
            <a:off x="6223000" y="1524000"/>
            <a:ext cx="5334000" cy="2794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CA2697-DE92-AADB-BF70-170E8A9ABFDD}"/>
              </a:ext>
            </a:extLst>
          </p:cNvPr>
          <p:cNvSpPr txBox="1"/>
          <p:nvPr/>
        </p:nvSpPr>
        <p:spPr>
          <a:xfrm>
            <a:off x="6400800" y="1676400"/>
            <a:ext cx="4978400" cy="2185214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10B981"/>
                </a:solidFill>
                <a:latin typeface="Segoe UI" panose="020B0502040204020203" pitchFamily="34" charset="0"/>
              </a:rPr>
              <a:t>TAMPER-EVIDENT EVIDENCE ARCHIVAL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Cryptographic Visual Integrity:
â€¢ Snapshot Capture: Annotated JPEG frame archived upon incident creation.
â€¢ SHA-256 Hashing on Write: Checksum computed immediately and stored in database.
â€¢ Real-Time Tamper Verification: Verification API (GET /api/evidence/{id}) streams on-disk file and recomputes hash to detect unauthorized file tampering.
â€¢ Storage Quota Engine: Configurable 10 GB limit with oldest-first rolling cleanup.
â€¢ Path Traversal Defense: Canonical path resolution blocks directory traversal.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E51C404-19DA-E9E6-310A-27E58120ABB8}"/>
              </a:ext>
            </a:extLst>
          </p:cNvPr>
          <p:cNvSpPr/>
          <p:nvPr/>
        </p:nvSpPr>
        <p:spPr>
          <a:xfrm>
            <a:off x="6223000" y="4508500"/>
            <a:ext cx="5334000" cy="19685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ED3EA4-5636-6783-D13E-B55AEAE9FCB9}"/>
              </a:ext>
            </a:extLst>
          </p:cNvPr>
          <p:cNvSpPr txBox="1"/>
          <p:nvPr/>
        </p:nvSpPr>
        <p:spPr>
          <a:xfrm>
            <a:off x="6400800" y="4660900"/>
            <a:ext cx="4978400" cy="1054135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10B981"/>
                </a:solidFill>
                <a:latin typeface="Segoe UI" panose="020B0502040204020203" pitchFamily="34" charset="0"/>
              </a:rPr>
              <a:t>EXTERNAL ALERT PROVIDERS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Multi-Channel Notification Architecture:
â€¢ Webhook Provider: JSON POST with HMAC-SHA256 signature in X-Rakshya-Signature.
â€¢ Email Provider: Plain text alerts via smtplib with STARTTLS encryption.
â€¢ Zero Fake Claims: Reports NOT_CONFIGURED unless active endpoints exist.</a:t>
            </a:r>
          </a:p>
        </p:txBody>
      </p:sp>
    </p:spTree>
    <p:extLst>
      <p:ext uri="{BB962C8B-B14F-4D97-AF65-F5344CB8AC3E}">
        <p14:creationId xmlns:p14="http://schemas.microsoft.com/office/powerpoint/2010/main" val="4087595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FD11F8-8239-57D4-3609-23FD6A4C17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5B5D403-7EF9-253F-1810-B79552838D73}"/>
              </a:ext>
            </a:extLst>
          </p:cNvPr>
          <p:cNvSpPr/>
          <p:nvPr/>
        </p:nvSpPr>
        <p:spPr>
          <a:xfrm>
            <a:off x="635000" y="381000"/>
            <a:ext cx="3556000" cy="30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IN" sz="1000" b="1">
                <a:solidFill>
                  <a:srgbClr val="10B981"/>
                </a:solidFill>
                <a:latin typeface="Segoe UI" panose="020B0502040204020203" pitchFamily="34" charset="0"/>
              </a:rPr>
              <a:t>TECHNOLOGY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B75E64-9F40-92CC-E524-B3289D6D4C02}"/>
              </a:ext>
            </a:extLst>
          </p:cNvPr>
          <p:cNvSpPr txBox="1"/>
          <p:nvPr/>
        </p:nvSpPr>
        <p:spPr>
          <a:xfrm>
            <a:off x="635000" y="736600"/>
            <a:ext cx="10922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400" b="1">
                <a:solidFill>
                  <a:srgbClr val="F8FAFC"/>
                </a:solidFill>
                <a:latin typeface="Segoe UI" panose="020B0502040204020203" pitchFamily="34" charset="0"/>
              </a:rPr>
              <a:t>Production-Grade, Scalable Edge Architecture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AEE721-8253-5C6F-CAC3-4825EE750C30}"/>
              </a:ext>
            </a:extLst>
          </p:cNvPr>
          <p:cNvCxnSpPr/>
          <p:nvPr/>
        </p:nvCxnSpPr>
        <p:spPr>
          <a:xfrm>
            <a:off x="635000" y="1295400"/>
            <a:ext cx="1092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99E102-1C45-F34C-ABA8-7D9DC9784891}"/>
              </a:ext>
            </a:extLst>
          </p:cNvPr>
          <p:cNvSpPr/>
          <p:nvPr/>
        </p:nvSpPr>
        <p:spPr>
          <a:xfrm>
            <a:off x="635000" y="1524000"/>
            <a:ext cx="2540000" cy="495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31525-3BB5-4365-A579-F5DEC2290D8F}"/>
              </a:ext>
            </a:extLst>
          </p:cNvPr>
          <p:cNvSpPr txBox="1"/>
          <p:nvPr/>
        </p:nvSpPr>
        <p:spPr>
          <a:xfrm>
            <a:off x="812800" y="1676400"/>
            <a:ext cx="2184400" cy="2185214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38BDF8"/>
                </a:solidFill>
                <a:latin typeface="Segoe UI" panose="020B0502040204020203" pitchFamily="34" charset="0"/>
              </a:rPr>
              <a:t>AI &amp; VISION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Neural Inference:
â€¢ Python 3.13
â€¢ Ultralytics YOLOv8n
â€¢ PyTorch 2.14.0+cpu
â€¢ CUDA acceleration ready
Tracking &amp; Geometry:
â€¢ Custom ByteTrack
â€¢ 8-State Kalman Filter
â€¢ Hungarian Matcher
â€¢ OpenCV (cv2)
â€¢ NumPy Array Ops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65647D-5B22-A39C-817C-90B91782A7FF}"/>
              </a:ext>
            </a:extLst>
          </p:cNvPr>
          <p:cNvSpPr/>
          <p:nvPr/>
        </p:nvSpPr>
        <p:spPr>
          <a:xfrm>
            <a:off x="3429000" y="1524000"/>
            <a:ext cx="2540000" cy="495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580E5C-091D-7701-D97A-C013BE0F185D}"/>
              </a:ext>
            </a:extLst>
          </p:cNvPr>
          <p:cNvSpPr txBox="1"/>
          <p:nvPr/>
        </p:nvSpPr>
        <p:spPr>
          <a:xfrm>
            <a:off x="3606800" y="1676400"/>
            <a:ext cx="2184400" cy="2023631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10B981"/>
                </a:solidFill>
                <a:latin typeface="Segoe UI" panose="020B0502040204020203" pitchFamily="34" charset="0"/>
              </a:rPr>
              <a:t>BACKEND APIS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Service Layer:
â€¢ FastAPI (Async REST)
â€¢ Starlette
â€¢ Uvicorn ASGI Server
â€¢ Pydantic v2 (Schemas)
Concurrency:
â€¢ Thread-Isolated Workers
â€¢ ThreadPoolExecutor
â€¢ In-Memory Pub/Sub
â€¢ Bounded Backoff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D85957-D482-BBC0-0548-B494CB75ABDD}"/>
              </a:ext>
            </a:extLst>
          </p:cNvPr>
          <p:cNvSpPr/>
          <p:nvPr/>
        </p:nvSpPr>
        <p:spPr>
          <a:xfrm>
            <a:off x="6223000" y="1524000"/>
            <a:ext cx="2540000" cy="495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9BDF6F-0B8E-3EEF-1242-6577CBE0249E}"/>
              </a:ext>
            </a:extLst>
          </p:cNvPr>
          <p:cNvSpPr txBox="1"/>
          <p:nvPr/>
        </p:nvSpPr>
        <p:spPr>
          <a:xfrm>
            <a:off x="6400800" y="1676400"/>
            <a:ext cx="2184400" cy="2185214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F59E0B"/>
                </a:solidFill>
                <a:latin typeface="Segoe UI" panose="020B0502040204020203" pitchFamily="34" charset="0"/>
              </a:rPr>
              <a:t>PERSISTENCE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Database &amp; Storage:
â€¢ SQLite (WAL Mode)
â€¢ PRAGMA synchronous=NORMAL
â€¢ PRAGMA foreign_keys=ON
â€¢ 5000 ms busy_timeout
â€¢ SQLAlchemy ORM
Security:
â€¢ PBKDF2-HMAC-SHA256
â€¢ PyJWT (HS256)
â€¢ SHA-256 Checksums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4EE0CD-3446-C6C9-96C1-09DEE1704682}"/>
              </a:ext>
            </a:extLst>
          </p:cNvPr>
          <p:cNvSpPr/>
          <p:nvPr/>
        </p:nvSpPr>
        <p:spPr>
          <a:xfrm>
            <a:off x="9017000" y="1524000"/>
            <a:ext cx="2540000" cy="495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AAF2AC-5200-EF39-F1DF-98BAA7AF8185}"/>
              </a:ext>
            </a:extLst>
          </p:cNvPr>
          <p:cNvSpPr txBox="1"/>
          <p:nvPr/>
        </p:nvSpPr>
        <p:spPr>
          <a:xfrm>
            <a:off x="9194800" y="1676400"/>
            <a:ext cx="2184400" cy="2185214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38BDF8"/>
                </a:solidFill>
                <a:latin typeface="Segoe UI" panose="020B0502040204020203" pitchFamily="34" charset="0"/>
              </a:rPr>
              <a:t>FRONTEND &amp; OPS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Web Dashboard:
â€¢ React 18
â€¢ TypeScript
â€¢ Vite 6
â€¢ Tailwind CSS
â€¢ Native WebSockets
Observability:
â€¢ Prometheus /metrics
â€¢ /health/live Probe
â€¢ /health/ready Probe
â€¢ Rotating JSON Logs</a:t>
            </a:r>
          </a:p>
        </p:txBody>
      </p:sp>
    </p:spTree>
    <p:extLst>
      <p:ext uri="{BB962C8B-B14F-4D97-AF65-F5344CB8AC3E}">
        <p14:creationId xmlns:p14="http://schemas.microsoft.com/office/powerpoint/2010/main" val="3578546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4738BF-AC79-6720-1A87-574C4B4739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9049A04-45C1-04C6-7D3F-38C57DA3539C}"/>
              </a:ext>
            </a:extLst>
          </p:cNvPr>
          <p:cNvSpPr/>
          <p:nvPr/>
        </p:nvSpPr>
        <p:spPr>
          <a:xfrm>
            <a:off x="635000" y="381000"/>
            <a:ext cx="3556000" cy="30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IN" sz="1000" b="1">
                <a:solidFill>
                  <a:srgbClr val="10B981"/>
                </a:solidFill>
                <a:latin typeface="Segoe UI" panose="020B0502040204020203" pitchFamily="34" charset="0"/>
              </a:rPr>
              <a:t>EMPIRICAL VERIFICATION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6367FA-6E29-C4B9-B22B-432A9796AEE8}"/>
              </a:ext>
            </a:extLst>
          </p:cNvPr>
          <p:cNvSpPr txBox="1"/>
          <p:nvPr/>
        </p:nvSpPr>
        <p:spPr>
          <a:xfrm>
            <a:off x="635000" y="736600"/>
            <a:ext cx="10922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8FAFC"/>
                </a:solidFill>
                <a:latin typeface="Segoe UI" panose="020B0502040204020203" pitchFamily="34" charset="0"/>
              </a:rPr>
              <a:t>Rigorous Automated Testing &amp; Hardware Verification Scorecard</a:t>
            </a:r>
            <a:endParaRPr lang="en-IN" sz="24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39AA8F-8B80-951C-3F99-A2C48698BACE}"/>
              </a:ext>
            </a:extLst>
          </p:cNvPr>
          <p:cNvCxnSpPr/>
          <p:nvPr/>
        </p:nvCxnSpPr>
        <p:spPr>
          <a:xfrm>
            <a:off x="635000" y="1295400"/>
            <a:ext cx="1092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0F9DE-7D3A-C3B0-D032-4D88D9B55CC3}"/>
              </a:ext>
            </a:extLst>
          </p:cNvPr>
          <p:cNvSpPr/>
          <p:nvPr/>
        </p:nvSpPr>
        <p:spPr>
          <a:xfrm>
            <a:off x="635000" y="1524000"/>
            <a:ext cx="2540000" cy="1397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A94622-AB29-52DE-B889-8396FD4B2989}"/>
              </a:ext>
            </a:extLst>
          </p:cNvPr>
          <p:cNvSpPr txBox="1"/>
          <p:nvPr/>
        </p:nvSpPr>
        <p:spPr>
          <a:xfrm>
            <a:off x="762000" y="1651000"/>
            <a:ext cx="2286000" cy="81560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2800" b="1">
                <a:solidFill>
                  <a:srgbClr val="10B981"/>
                </a:solidFill>
                <a:latin typeface="Segoe UI" panose="020B0502040204020203" pitchFamily="34" charset="0"/>
              </a:rPr>
              <a:t>160 / 160
</a:t>
            </a:r>
            <a:r>
              <a:rPr lang="en-IN" sz="1100" b="1">
                <a:solidFill>
                  <a:srgbClr val="F8FAFC"/>
                </a:solidFill>
                <a:latin typeface="Segoe UI" panose="020B0502040204020203" pitchFamily="34" charset="0"/>
              </a:rPr>
              <a:t>Backend Unit Tests
</a:t>
            </a:r>
            <a:r>
              <a:rPr lang="en-US" sz="950" b="1">
                <a:solidFill>
                  <a:srgbClr val="94A3B8"/>
                </a:solidFill>
                <a:latin typeface="Segoe UI" panose="020B0502040204020203" pitchFamily="34" charset="0"/>
              </a:rPr>
              <a:t>100% Pass Rate across Pytest</a:t>
            </a:r>
            <a:endParaRPr lang="en-IN" sz="950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C46282-BCF6-87DF-D4FC-1F2DA51306B9}"/>
              </a:ext>
            </a:extLst>
          </p:cNvPr>
          <p:cNvSpPr/>
          <p:nvPr/>
        </p:nvSpPr>
        <p:spPr>
          <a:xfrm>
            <a:off x="3429000" y="1524000"/>
            <a:ext cx="2540000" cy="1397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05FC5F-ED05-AA0A-E46B-81B682F98815}"/>
              </a:ext>
            </a:extLst>
          </p:cNvPr>
          <p:cNvSpPr txBox="1"/>
          <p:nvPr/>
        </p:nvSpPr>
        <p:spPr>
          <a:xfrm>
            <a:off x="3556000" y="1651000"/>
            <a:ext cx="2286000" cy="81560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2800" b="1">
                <a:solidFill>
                  <a:srgbClr val="10B981"/>
                </a:solidFill>
                <a:latin typeface="Segoe UI" panose="020B0502040204020203" pitchFamily="34" charset="0"/>
              </a:rPr>
              <a:t>39 / 39
</a:t>
            </a:r>
            <a:r>
              <a:rPr lang="en-IN" sz="1100" b="1">
                <a:solidFill>
                  <a:srgbClr val="F8FAFC"/>
                </a:solidFill>
                <a:latin typeface="Segoe UI" panose="020B0502040204020203" pitchFamily="34" charset="0"/>
              </a:rPr>
              <a:t>Integration Scenarios
</a:t>
            </a:r>
            <a:r>
              <a:rPr lang="en-IN" sz="950" b="1">
                <a:solidFill>
                  <a:srgbClr val="94A3B8"/>
                </a:solidFill>
                <a:latin typeface="Segoe UI" panose="020B0502040204020203" pitchFamily="34" charset="0"/>
              </a:rPr>
              <a:t>100% E2E System Verification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E5801A-F58F-15D5-2020-A32305C933BE}"/>
              </a:ext>
            </a:extLst>
          </p:cNvPr>
          <p:cNvSpPr/>
          <p:nvPr/>
        </p:nvSpPr>
        <p:spPr>
          <a:xfrm>
            <a:off x="6223000" y="1524000"/>
            <a:ext cx="2540000" cy="1397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ECB17B-EFAC-CB42-1AFE-30014BDF992C}"/>
              </a:ext>
            </a:extLst>
          </p:cNvPr>
          <p:cNvSpPr txBox="1"/>
          <p:nvPr/>
        </p:nvSpPr>
        <p:spPr>
          <a:xfrm>
            <a:off x="6350000" y="1651000"/>
            <a:ext cx="2286000" cy="81560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2800" b="1">
                <a:solidFill>
                  <a:srgbClr val="38BDF8"/>
                </a:solidFill>
                <a:latin typeface="Segoe UI" panose="020B0502040204020203" pitchFamily="34" charset="0"/>
              </a:rPr>
              <a:t>45.5 ms
</a:t>
            </a:r>
            <a:r>
              <a:rPr lang="en-IN" sz="1100" b="1">
                <a:solidFill>
                  <a:srgbClr val="F8FAFC"/>
                </a:solidFill>
                <a:latin typeface="Segoe UI" panose="020B0502040204020203" pitchFamily="34" charset="0"/>
              </a:rPr>
              <a:t>Mean CPU Latency
</a:t>
            </a:r>
            <a:r>
              <a:rPr lang="en-US" sz="950" b="1">
                <a:solidFill>
                  <a:srgbClr val="94A3B8"/>
                </a:solidFill>
                <a:latin typeface="Segoe UI" panose="020B0502040204020203" pitchFamily="34" charset="0"/>
              </a:rPr>
              <a:t>~22-24 FPS on Commodity CPU</a:t>
            </a:r>
            <a:endParaRPr lang="en-IN" sz="950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59669E-69DF-48DD-79C6-4C823EC06D3D}"/>
              </a:ext>
            </a:extLst>
          </p:cNvPr>
          <p:cNvSpPr/>
          <p:nvPr/>
        </p:nvSpPr>
        <p:spPr>
          <a:xfrm>
            <a:off x="9017000" y="1524000"/>
            <a:ext cx="2540000" cy="1397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2E447E-11A2-EB1F-11C4-7C08CD146731}"/>
              </a:ext>
            </a:extLst>
          </p:cNvPr>
          <p:cNvSpPr txBox="1"/>
          <p:nvPr/>
        </p:nvSpPr>
        <p:spPr>
          <a:xfrm>
            <a:off x="9144000" y="1651000"/>
            <a:ext cx="2286000" cy="81560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2800" b="1">
                <a:solidFill>
                  <a:srgbClr val="10B981"/>
                </a:solidFill>
                <a:latin typeface="Segoe UI" panose="020B0502040204020203" pitchFamily="34" charset="0"/>
              </a:rPr>
              <a:t>0 Leaks
</a:t>
            </a:r>
            <a:r>
              <a:rPr lang="en-IN" sz="1100" b="1">
                <a:solidFill>
                  <a:srgbClr val="F8FAFC"/>
                </a:solidFill>
                <a:latin typeface="Segoe UI" panose="020B0502040204020203" pitchFamily="34" charset="0"/>
              </a:rPr>
              <a:t>Memory Stability
</a:t>
            </a:r>
            <a:r>
              <a:rPr lang="en-IN" sz="950" b="1">
                <a:solidFill>
                  <a:srgbClr val="94A3B8"/>
                </a:solidFill>
                <a:latin typeface="Segoe UI" panose="020B0502040204020203" pitchFamily="34" charset="0"/>
              </a:rPr>
              <a:t>+9.1MB transient over 25 cycles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ED7F753-7B19-9F08-5B78-16DB7ABB786B}"/>
              </a:ext>
            </a:extLst>
          </p:cNvPr>
          <p:cNvSpPr/>
          <p:nvPr/>
        </p:nvSpPr>
        <p:spPr>
          <a:xfrm>
            <a:off x="635000" y="3111500"/>
            <a:ext cx="5334000" cy="33655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A91AAA-6FCA-0369-DEF8-31805C4DE71B}"/>
              </a:ext>
            </a:extLst>
          </p:cNvPr>
          <p:cNvSpPr txBox="1"/>
          <p:nvPr/>
        </p:nvSpPr>
        <p:spPr>
          <a:xfrm>
            <a:off x="812800" y="3263900"/>
            <a:ext cx="4978400" cy="1700466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10B981"/>
                </a:solidFill>
                <a:latin typeface="Segoe UI" panose="020B0502040204020203" pitchFamily="34" charset="0"/>
              </a:rPr>
              <a:t>FACTUAL VERIFICATION STATUS SCORECARD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VERIFIED SUBSYSTEMS (TESTED &amp; CONFIRMED):
[PASS] AI Detection: 7 Canonical classes with verified SHA-256 weights
[PASS] Worker Tracking: ByteTrack 8-state Kalman trajectories
[PASS] PPE Compliance: Anatomical association &amp; N_confirm = 3
[PASS] Occlusion Safety: UNKNOWN state strictly yields 0 false violations
[PASS] Hazard Engine: Dual-channel fire/smoke state machine (N=5)
[PASS] Risk &amp; Alerts: Deterministic 0-100 score &amp; 60s cooldown
[PASS] Evidence Store: SHA-256 checksummed snapshots &amp; quota pruning
[PASS] Laptop Integrated Webcam: Real OpenCV live stream AI processing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6ED26C-DC76-C937-4897-981106E8A3FA}"/>
              </a:ext>
            </a:extLst>
          </p:cNvPr>
          <p:cNvSpPr/>
          <p:nvPr/>
        </p:nvSpPr>
        <p:spPr>
          <a:xfrm>
            <a:off x="6223000" y="3111500"/>
            <a:ext cx="5334000" cy="33655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9793A8-C4A8-7FA6-0DA1-6B33DBDAB8D7}"/>
              </a:ext>
            </a:extLst>
          </p:cNvPr>
          <p:cNvSpPr txBox="1"/>
          <p:nvPr/>
        </p:nvSpPr>
        <p:spPr>
          <a:xfrm>
            <a:off x="6400800" y="3263900"/>
            <a:ext cx="4978400" cy="2346796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F59E0B"/>
                </a:solidFill>
                <a:latin typeface="Segoe UI" panose="020B0502040204020203" pitchFamily="34" charset="0"/>
              </a:rPr>
              <a:t>TRANSPARENT SYSTEM MATURITY CLASSIFICATION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HONEST BOUNDARIES &amp; MATURITY STATUS:
PARTIALLY VERIFIED:
â€¢ RTSP IP Camera Streaming: Validated via simulated network RTSP feeds; physical factory CCTV pilot pending.
IMPLEMENTED (CONFIGURATION REQUIRED):
â€¢ External Notification Providers: Webhooks and SMTP email code fully functional; requires active client endpoints.
NOT YET VALIDATED (SCHEDULED ROADMAP):
â€¢ Physical Industrial CCTV Hardware Pilot in live factory environment.
â€¢ 24/72-Hour Sustained Edge Endurance Soak Test.</a:t>
            </a:r>
          </a:p>
        </p:txBody>
      </p:sp>
    </p:spTree>
    <p:extLst>
      <p:ext uri="{BB962C8B-B14F-4D97-AF65-F5344CB8AC3E}">
        <p14:creationId xmlns:p14="http://schemas.microsoft.com/office/powerpoint/2010/main" val="3940082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4EED65-19F7-868E-25D5-45AC9CE1F7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40F82B3-5DF3-60EB-5494-130AF4D84D01}"/>
              </a:ext>
            </a:extLst>
          </p:cNvPr>
          <p:cNvSpPr/>
          <p:nvPr/>
        </p:nvSpPr>
        <p:spPr>
          <a:xfrm>
            <a:off x="635000" y="381000"/>
            <a:ext cx="3556000" cy="30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IN" sz="1000" b="1">
                <a:solidFill>
                  <a:srgbClr val="10B981"/>
                </a:solidFill>
                <a:latin typeface="Segoe UI" panose="020B0502040204020203" pitchFamily="34" charset="0"/>
              </a:rPr>
              <a:t>IMPACT &amp; 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81D3B-4365-EAEC-9E0A-5A14C364ABAC}"/>
              </a:ext>
            </a:extLst>
          </p:cNvPr>
          <p:cNvSpPr txBox="1"/>
          <p:nvPr/>
        </p:nvSpPr>
        <p:spPr>
          <a:xfrm>
            <a:off x="635000" y="736600"/>
            <a:ext cx="10922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8FAFC"/>
                </a:solidFill>
                <a:latin typeface="Segoe UI" panose="020B0502040204020203" pitchFamily="34" charset="0"/>
              </a:rPr>
              <a:t>Transforming Industrial Safety from Reactive to Predictive</a:t>
            </a:r>
            <a:endParaRPr lang="en-IN" sz="24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A9C52C-1EF0-256E-CFA7-1D1FE77A2CDF}"/>
              </a:ext>
            </a:extLst>
          </p:cNvPr>
          <p:cNvCxnSpPr/>
          <p:nvPr/>
        </p:nvCxnSpPr>
        <p:spPr>
          <a:xfrm>
            <a:off x="635000" y="1295400"/>
            <a:ext cx="1092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116DB5-B417-4B0E-DA64-0C04A8DA7D25}"/>
              </a:ext>
            </a:extLst>
          </p:cNvPr>
          <p:cNvSpPr/>
          <p:nvPr/>
        </p:nvSpPr>
        <p:spPr>
          <a:xfrm>
            <a:off x="635000" y="1524000"/>
            <a:ext cx="5334000" cy="495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0177E-7760-B247-7691-DDAE919D4427}"/>
              </a:ext>
            </a:extLst>
          </p:cNvPr>
          <p:cNvSpPr txBox="1"/>
          <p:nvPr/>
        </p:nvSpPr>
        <p:spPr>
          <a:xfrm>
            <a:off x="812800" y="1676400"/>
            <a:ext cx="4978400" cy="2993127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10B981"/>
                </a:solidFill>
                <a:latin typeface="Segoe UI" panose="020B0502040204020203" pitchFamily="34" charset="0"/>
              </a:rPr>
              <a:t>IMMEDIATE OPERATIONAL &amp; ECONOMIC IMPACT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Key Industrial Safety Dividends:
1. 24/7 Automated Vigilance:
   â€¢ Replaces spot-checks and observer fatigue with continuous computer vision surveillance across all facility zones.
2. Catastrophic Loss Prevention:
   â€¢ Sub-second flame and smoke confirmation detects early combustion before traditional smoke alarms or sprinklers engage.
3. Tamper-Evident Regulatory Compliance:
   â€¢ Cryptographically verified visual snapshot audit trail satisfies OSHA, STPI, and industrial safety compliance reviews.
4. Frictionless Worker Experience:
   â€¢ Anonymous trajectory estimation avoids facial recognition privacy concerns while upholding life-safety standards.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24231F-56CB-5B82-28DA-B27DF9218DDE}"/>
              </a:ext>
            </a:extLst>
          </p:cNvPr>
          <p:cNvSpPr/>
          <p:nvPr/>
        </p:nvSpPr>
        <p:spPr>
          <a:xfrm>
            <a:off x="6223000" y="1524000"/>
            <a:ext cx="5334000" cy="495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8998D0-99A2-5533-CAB4-EE49FE389776}"/>
              </a:ext>
            </a:extLst>
          </p:cNvPr>
          <p:cNvSpPr txBox="1"/>
          <p:nvPr/>
        </p:nvSpPr>
        <p:spPr>
          <a:xfrm>
            <a:off x="6400800" y="1676400"/>
            <a:ext cx="4978400" cy="2346796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38BDF8"/>
                </a:solidFill>
                <a:latin typeface="Segoe UI" panose="020B0502040204020203" pitchFamily="34" charset="0"/>
              </a:rPr>
              <a:t>CONCRETE ENGINEERING ROADMAP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Near-Term Priorities:
â€¢ Edge GPU Acceleration: TensorRT &amp; ONNX Runtime INT8 quantization for 10+ simultaneous 4K streams on NVIDIA Jetson / RTX.
â€¢ Extended Industrial Pilots: On-site pilot deployment with physical CCTV feeds at manufacturing plants.
â€¢ 72-Hour Soak Testing: Extended memory stability and WAL checkpoint evaluation under continuous multi-camera load.
Future Innovations:
â€¢ Industrial Protocol Interlocks: Modbus TCP, OPC-UA, and MQTT integrations for automated machinery emergency cutoffs.
â€¢ Expanded Safety Gear: High-angle face shields, safety harnesses for work-at-height, and hearing protection.</a:t>
            </a:r>
          </a:p>
        </p:txBody>
      </p:sp>
    </p:spTree>
    <p:extLst>
      <p:ext uri="{BB962C8B-B14F-4D97-AF65-F5344CB8AC3E}">
        <p14:creationId xmlns:p14="http://schemas.microsoft.com/office/powerpoint/2010/main" val="1832267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227890-B473-3159-7436-93118F0214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4768DA-C6F2-1F4B-7888-BFDA8B02E485}"/>
              </a:ext>
            </a:extLst>
          </p:cNvPr>
          <p:cNvSpPr/>
          <p:nvPr/>
        </p:nvSpPr>
        <p:spPr>
          <a:xfrm>
            <a:off x="1270000" y="1016000"/>
            <a:ext cx="50800" cy="1905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B00DC1-544C-ED9C-D0ED-BB8F4C5A6766}"/>
              </a:ext>
            </a:extLst>
          </p:cNvPr>
          <p:cNvSpPr/>
          <p:nvPr/>
        </p:nvSpPr>
        <p:spPr>
          <a:xfrm>
            <a:off x="1473200" y="1016000"/>
            <a:ext cx="6604000" cy="30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" b="1">
                <a:solidFill>
                  <a:srgbClr val="38BDF8"/>
                </a:solidFill>
                <a:latin typeface="Segoe UI" panose="020B0502040204020203" pitchFamily="34" charset="0"/>
              </a:rPr>
              <a:t>BPUT HACKATHON 2026 â€¢ PROBLEM STATEMENT PS06</a:t>
            </a:r>
            <a:endParaRPr lang="en-IN" sz="1000" b="1">
              <a:solidFill>
                <a:srgbClr val="38BDF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15328-C106-E0B0-52DE-35DA576683F3}"/>
              </a:ext>
            </a:extLst>
          </p:cNvPr>
          <p:cNvSpPr txBox="1"/>
          <p:nvPr/>
        </p:nvSpPr>
        <p:spPr>
          <a:xfrm>
            <a:off x="1447800" y="1397000"/>
            <a:ext cx="952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4400" b="1">
                <a:solidFill>
                  <a:srgbClr val="F8FAFC"/>
                </a:solidFill>
                <a:latin typeface="Segoe UI" panose="020B0502040204020203" pitchFamily="34" charset="0"/>
              </a:rPr>
              <a:t>RAKSHYA 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6238E-4032-BA9A-D046-251D88183120}"/>
              </a:ext>
            </a:extLst>
          </p:cNvPr>
          <p:cNvSpPr txBox="1"/>
          <p:nvPr/>
        </p:nvSpPr>
        <p:spPr>
          <a:xfrm>
            <a:off x="1473200" y="2222500"/>
            <a:ext cx="952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 b="1">
                <a:solidFill>
                  <a:srgbClr val="10B981"/>
                </a:solidFill>
                <a:latin typeface="Segoe UI" panose="020B0502040204020203" pitchFamily="34" charset="0"/>
              </a:rPr>
              <a:t>Detect â€¢ Understand â€¢ Alert â€¢ Protect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BDF754-7A45-1FC5-D5C0-EDA01F21D25E}"/>
              </a:ext>
            </a:extLst>
          </p:cNvPr>
          <p:cNvSpPr/>
          <p:nvPr/>
        </p:nvSpPr>
        <p:spPr>
          <a:xfrm>
            <a:off x="1473200" y="3048000"/>
            <a:ext cx="9271000" cy="2794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F22BFB-1812-6D2C-DC58-24481B5759F5}"/>
              </a:ext>
            </a:extLst>
          </p:cNvPr>
          <p:cNvSpPr txBox="1"/>
          <p:nvPr/>
        </p:nvSpPr>
        <p:spPr>
          <a:xfrm>
            <a:off x="1651000" y="3200400"/>
            <a:ext cx="8915400" cy="2831544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n-IN" sz="1300" b="1">
                <a:solidFill>
                  <a:srgbClr val="10B981"/>
                </a:solidFill>
                <a:latin typeface="Segoe UI" panose="020B0502040204020203" pitchFamily="34" charset="0"/>
              </a:rPr>
              <a:t>PROJECT SUBMISSION SUMMARY
</a:t>
            </a:r>
            <a:r>
              <a:rPr lang="en-IN" sz="1050" b="1">
                <a:solidFill>
                  <a:srgbClr val="94A3B8"/>
                </a:solidFill>
                <a:latin typeface="Segoe UI" panose="020B0502040204020203" pitchFamily="34" charset="0"/>
              </a:rPr>
              <a:t>TEAM:
XERSES
CHALLENGE:
PS06 â€” Build a prototype AI system that detects safety gear compliance
ORGANIZED BY:
Software Technology Parks of India (STPI) &amp; EmTek
VERIFIED SYSTEM CAPABILITIES:
160 / 160 Unit Tests Passing â€¢ 39 / 39 Integration Scenarios Verified â€¢ ~24 FPS Real-Time CPU Inference
Zero-Biometric Anonymous Tracking â€¢ Anatomical PPE Association â€¢ Dual-Channel Fire/Smoke Detection
Explainable 0-100 Risk Engine â€¢ Tamper-Evident SHA-256 Evidence â€¢ React 18 Real-Time SOC Dashboard
OFFICIAL GITHUB REPOSITORY:
https://github.com/SMRU08/RAKSHYA-VISION.git</a:t>
            </a:r>
          </a:p>
        </p:txBody>
      </p:sp>
    </p:spTree>
    <p:extLst>
      <p:ext uri="{BB962C8B-B14F-4D97-AF65-F5344CB8AC3E}">
        <p14:creationId xmlns:p14="http://schemas.microsoft.com/office/powerpoint/2010/main" val="698372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3502</Words>
  <Application>Microsoft Office PowerPoint</Application>
  <PresentationFormat>Custom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Smruti Ranjan Nayak</dc:creator>
  <cp:lastModifiedBy>Smruti Ranjan Nayak</cp:lastModifiedBy>
  <cp:revision>1</cp:revision>
  <dcterms:created xsi:type="dcterms:W3CDTF">2026-09-21T14:33:37Z</dcterms:created>
  <dcterms:modified xsi:type="dcterms:W3CDTF">2026-09-21T14:33:37Z</dcterms:modified>
</cp:coreProperties>
</file>